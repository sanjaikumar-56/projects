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2A4DA-02EB-B397-8756-B8A6A07218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9B9E44-2492-8541-BACA-F22FC90AAE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31406-FFC8-5280-BDAD-9D6E17E63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07E90-2ED5-4532-AA17-91C57A571FBC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D5EEB-5779-73A8-3575-4F9A5D88A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DB3AD-D16D-0361-02A6-934FF0F53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DA8D9-EE53-49D9-A3D3-6E22B2986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062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852C5-F8C2-F73A-65E6-3766010F8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CBCA2-4F42-2DB7-A9D4-2E6BBAAC1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48F2F-ED57-1594-CE68-3E2B040C0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07E90-2ED5-4532-AA17-91C57A571FBC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724A3-5413-94C1-2555-3D14678B9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637DC-B729-86F9-EC24-C5E267651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DA8D9-EE53-49D9-A3D3-6E22B2986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157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E2C5B-96EF-EB6E-AEA8-F31501FF8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940EB-4DA4-1B0E-C823-809FEBA74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EF2E8-3060-8FEF-11CD-EDB1B6277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07E90-2ED5-4532-AA17-91C57A571FBC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14A36-5A18-980E-001C-025F55582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3B658-2097-2900-5ACC-4D85EEA4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DA8D9-EE53-49D9-A3D3-6E22B2986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912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B678B-DFFC-80C6-7954-0D33144E8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9D762-5A73-51E3-4845-F784B2E0C2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CD156A-9130-4418-D682-C6268927BB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F7A744-1E04-ED19-A07B-07B67908B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07E90-2ED5-4532-AA17-91C57A571FBC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684ED-79B3-448E-3124-C45C9CFC0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4AA74-7017-2B7E-CEAD-6A8735144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DA8D9-EE53-49D9-A3D3-6E22B2986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665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6835C-C123-BCF7-6F7F-874AE0C76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38FA3-B4B6-3757-C273-3F2DF257A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BCBFBC-2D50-269E-2486-F83D1B6DD5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41BA6D-4990-9FA8-E9A6-2F35F8A7FC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6A0320-E5B4-CEF8-A8A5-402F34C82F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D3281E-854C-A072-16C9-1819365CD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07E90-2ED5-4532-AA17-91C57A571FBC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BE3E3E-5F55-BC6A-4200-9DFAEB1C0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7A4B72-36B5-E26E-7C6E-0B1EDEBB6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DA8D9-EE53-49D9-A3D3-6E22B2986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089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3E7A2-DAFA-C762-79ED-1274DDC06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335C73-4802-2BB8-7906-A35FB8055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07E90-2ED5-4532-AA17-91C57A571FBC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FE1CB5-DDF9-BF07-9128-0CD78CE89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19F876-CE95-BAAC-28B6-51E72B2C8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DA8D9-EE53-49D9-A3D3-6E22B2986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37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8C71DD-843E-3C73-F3BD-CAF196DBA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07E90-2ED5-4532-AA17-91C57A571FBC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68490F-B054-FE67-84DF-6A5657F91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FEAEB-6862-7DF9-3685-56A793493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DA8D9-EE53-49D9-A3D3-6E22B2986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175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93F9E-9B7E-A027-E592-80F440E2D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58141-BAD0-7811-3B40-4612B8D97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54676A-236A-E04A-27FB-B7F3C7C5E4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AC9434-07CD-BA77-BF7B-ED0872453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07E90-2ED5-4532-AA17-91C57A571FBC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1551E3-6361-F570-2DE3-05C50AD37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A5912B-6D8E-A7C5-4417-0A8F23F52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DA8D9-EE53-49D9-A3D3-6E22B2986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716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59263-5241-B3C3-6F27-F8697DFC3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90334E-4E01-A350-C46B-FBA3BC32B4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658420-A325-9B19-528D-A15F0CB4E8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682D00-B3DF-5241-8B5F-9BC21A25C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07E90-2ED5-4532-AA17-91C57A571FBC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4473CE-E3E1-8E3C-FA83-C5CAE4E24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F5DD0D-D4C2-DA97-52B9-D51216799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DA8D9-EE53-49D9-A3D3-6E22B2986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858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7581E-D420-69D1-081A-DEB2A57F5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81ADD-F0AB-7A80-6394-0DF3602C9A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E0F0E-124D-72F8-9F09-DF28EC2C9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07E90-2ED5-4532-AA17-91C57A571FBC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92179-D880-C96A-C462-C1695D02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2CA01-6D46-7C97-4F7C-288CDFF74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DA8D9-EE53-49D9-A3D3-6E22B2986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772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25CD9F-5044-9FE2-E227-0F790FD41C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D14A3D-074D-1707-ED5B-B5B762E06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F2D88-6523-7982-1A49-3A939D9CA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07E90-2ED5-4532-AA17-91C57A571FBC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12BAE-A9F8-1D51-A0A6-67D90E6D6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A6B7A-2C13-683D-790D-ECADE5BA3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DA8D9-EE53-49D9-A3D3-6E22B2986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262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1175EC-F5BA-390C-E963-1AAA47A9B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B7BD87-030A-C46D-2003-E8017CC1E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E1EFE-8104-4B4E-5C9E-52A63D687C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707E90-2ED5-4532-AA17-91C57A571FBC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C7242-AB90-7FB3-F8A4-F0B158CBD0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B0D61-C609-D237-6794-2D4045F0D6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2DA8D9-EE53-49D9-A3D3-6E22B2986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524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9" name="Rectangle 1048">
            <a:extLst>
              <a:ext uri="{FF2B5EF4-FFF2-40B4-BE49-F238E27FC236}">
                <a16:creationId xmlns:a16="http://schemas.microsoft.com/office/drawing/2014/main" id="{8F90786E-B72D-4C32-BDCE-A170B0078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5E46F2E7-848F-4A6C-A098-4764FDEA7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U.S. Traffic signs / shapes and colors">
            <a:extLst>
              <a:ext uri="{FF2B5EF4-FFF2-40B4-BE49-F238E27FC236}">
                <a16:creationId xmlns:a16="http://schemas.microsoft.com/office/drawing/2014/main" id="{BB0C1AF5-D944-B0BD-3987-252B2FA9E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6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925" r="1186"/>
          <a:stretch>
            <a:fillRect/>
          </a:stretch>
        </p:blipFill>
        <p:spPr bwMode="auto">
          <a:xfrm>
            <a:off x="-1" y="10"/>
            <a:ext cx="1219200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BE240B-AC91-DF02-8953-06C464CBFFD5}"/>
              </a:ext>
            </a:extLst>
          </p:cNvPr>
          <p:cNvSpPr txBox="1"/>
          <p:nvPr/>
        </p:nvSpPr>
        <p:spPr>
          <a:xfrm>
            <a:off x="838199" y="713103"/>
            <a:ext cx="9704943" cy="40720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Milestone-3</a:t>
            </a:r>
            <a:endParaRPr lang="en-US" sz="4000" b="1" i="1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CNN-Based Road Signs Classification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b="1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4000" b="1" dirty="0">
                <a:solidFill>
                  <a:schemeClr val="bg1"/>
                </a:solidFill>
              </a:rPr>
              <a:t>Indian Traffic Sign Recognition using Deep Learning (CNN)</a:t>
            </a:r>
            <a:endParaRPr lang="en-US" sz="4000" b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4EE3EA-0195-C484-4489-EA7E6BAA59E4}"/>
              </a:ext>
            </a:extLst>
          </p:cNvPr>
          <p:cNvSpPr txBox="1"/>
          <p:nvPr/>
        </p:nvSpPr>
        <p:spPr>
          <a:xfrm>
            <a:off x="7188524" y="4164375"/>
            <a:ext cx="4632574" cy="30516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2800" b="1" dirty="0">
                <a:solidFill>
                  <a:schemeClr val="bg1"/>
                </a:solidFill>
              </a:rPr>
              <a:t>Presented by:</a:t>
            </a:r>
          </a:p>
          <a:p>
            <a:pPr algn="r">
              <a:spcAft>
                <a:spcPts val="600"/>
              </a:spcAft>
            </a:pPr>
            <a:r>
              <a:rPr lang="en-US" sz="2800" b="1" dirty="0" err="1">
                <a:solidFill>
                  <a:srgbClr val="FFFFFF"/>
                </a:solidFill>
              </a:rPr>
              <a:t>Sanajikumar</a:t>
            </a:r>
            <a:r>
              <a:rPr lang="en-US" sz="2800" b="1" dirty="0">
                <a:solidFill>
                  <a:srgbClr val="FFFFFF"/>
                </a:solidFill>
              </a:rPr>
              <a:t> S</a:t>
            </a:r>
          </a:p>
          <a:p>
            <a:pPr algn="r">
              <a:spcAft>
                <a:spcPts val="600"/>
              </a:spcAft>
            </a:pPr>
            <a:r>
              <a:rPr lang="en-US" sz="2800" b="1" dirty="0">
                <a:solidFill>
                  <a:srgbClr val="FFFFFF"/>
                </a:solidFill>
              </a:rPr>
              <a:t>DA &amp; DS</a:t>
            </a:r>
          </a:p>
          <a:p>
            <a:pPr algn="r">
              <a:spcAft>
                <a:spcPts val="600"/>
              </a:spcAft>
            </a:pPr>
            <a:r>
              <a:rPr lang="en-US" sz="2800" b="1" dirty="0" err="1">
                <a:solidFill>
                  <a:srgbClr val="FFFFFF"/>
                </a:solidFill>
              </a:rPr>
              <a:t>Febreuary</a:t>
            </a:r>
            <a:r>
              <a:rPr lang="en-US" sz="2800" b="1" dirty="0">
                <a:solidFill>
                  <a:srgbClr val="FFFFFF"/>
                </a:solidFill>
              </a:rPr>
              <a:t> 2025</a:t>
            </a:r>
          </a:p>
          <a:p>
            <a:pPr algn="r">
              <a:spcAft>
                <a:spcPts val="600"/>
              </a:spcAft>
            </a:pPr>
            <a:r>
              <a:rPr lang="en-US" sz="2800" b="1" dirty="0">
                <a:solidFill>
                  <a:srgbClr val="FFFFFF"/>
                </a:solidFill>
              </a:rPr>
              <a:t>29-07-2025</a:t>
            </a:r>
          </a:p>
        </p:txBody>
      </p:sp>
    </p:spTree>
    <p:extLst>
      <p:ext uri="{BB962C8B-B14F-4D97-AF65-F5344CB8AC3E}">
        <p14:creationId xmlns:p14="http://schemas.microsoft.com/office/powerpoint/2010/main" val="1249026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165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8" name="Freeform: Shape 167">
            <a:extLst>
              <a:ext uri="{FF2B5EF4-FFF2-40B4-BE49-F238E27FC236}">
                <a16:creationId xmlns:a16="http://schemas.microsoft.com/office/drawing/2014/main" id="{F98F79A4-A6C7-4101-B1E9-27E05CB7C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3871489" cy="4096327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70" name="Freeform: Shape 169">
            <a:extLst>
              <a:ext uri="{FF2B5EF4-FFF2-40B4-BE49-F238E27FC236}">
                <a16:creationId xmlns:a16="http://schemas.microsoft.com/office/drawing/2014/main" id="{31CE7A08-2184-4B99-ABC0-B40CD1D3F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871489" cy="4096327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72" name="Freeform: Shape 171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79558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74" name="Freeform: Shape 173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9293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76" name="Freeform: Shape 175">
            <a:extLst>
              <a:ext uri="{FF2B5EF4-FFF2-40B4-BE49-F238E27FC236}">
                <a16:creationId xmlns:a16="http://schemas.microsoft.com/office/drawing/2014/main" id="{9E5C5460-229E-46C8-A712-CC3179854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00654" y="4275786"/>
            <a:ext cx="2691346" cy="2582214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8" name="Freeform: Shape 177">
            <a:extLst>
              <a:ext uri="{FF2B5EF4-FFF2-40B4-BE49-F238E27FC236}">
                <a16:creationId xmlns:a16="http://schemas.microsoft.com/office/drawing/2014/main" id="{2552FC29-9118-466F-940E-80C84EFDF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00654" y="4275786"/>
            <a:ext cx="2691346" cy="2582214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591B33-D938-3205-1CE9-8DC4E5C78878}"/>
              </a:ext>
            </a:extLst>
          </p:cNvPr>
          <p:cNvSpPr txBox="1"/>
          <p:nvPr/>
        </p:nvSpPr>
        <p:spPr>
          <a:xfrm>
            <a:off x="4263998" y="706508"/>
            <a:ext cx="688507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3000" b="1" dirty="0">
                <a:solidFill>
                  <a:schemeClr val="bg1"/>
                </a:solidFill>
              </a:rPr>
              <a:t>Objective: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	The objective of this project is to develop a CNN-based deep learning model that can accurately classify Indian road signs </a:t>
            </a:r>
            <a:r>
              <a:rPr lang="en-US">
                <a:solidFill>
                  <a:schemeClr val="bg1"/>
                </a:solidFill>
              </a:rPr>
              <a:t>into 52 </a:t>
            </a:r>
            <a:r>
              <a:rPr lang="en-US" dirty="0">
                <a:solidFill>
                  <a:schemeClr val="bg1"/>
                </a:solidFill>
              </a:rPr>
              <a:t>categories. This aims to support traffic automation systems, driver assistance, and autonomous vehicle technology. The model is trained on a labeled image dataset with preprocessing, augmentation, and hyperparameter tuning for optimal performance.</a:t>
            </a:r>
          </a:p>
        </p:txBody>
      </p:sp>
      <p:grpSp>
        <p:nvGrpSpPr>
          <p:cNvPr id="180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76234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AEBFCD5-5356-4326-8D39-8235A46CD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0809" y="1187311"/>
            <a:ext cx="5089552" cy="4483379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6814848-248A-47DD-88E0-95099D951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301" y="1178924"/>
            <a:ext cx="5089552" cy="4483379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18BDA89-0D2C-4C4E-99F6-D7A220FE4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787" y="1130846"/>
            <a:ext cx="5039475" cy="4439266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aphic 38">
            <a:extLst>
              <a:ext uri="{FF2B5EF4-FFF2-40B4-BE49-F238E27FC236}">
                <a16:creationId xmlns:a16="http://schemas.microsoft.com/office/drawing/2014/main" id="{6B67BE95-96EF-433C-9F29-B0732AA6B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3040" y="1424181"/>
            <a:ext cx="1355538" cy="503582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AD324976-1596-4B76-A61C-5626816B24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C44DEF24-FB22-48A2-8257-B97AD7E1A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7" name="Graphic 212">
            <a:extLst>
              <a:ext uri="{FF2B5EF4-FFF2-40B4-BE49-F238E27FC236}">
                <a16:creationId xmlns:a16="http://schemas.microsoft.com/office/drawing/2014/main" id="{7CE98B01-ED41-482F-AFA1-19C7FA7C0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502" y="629793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9" name="Graphic 212">
            <a:extLst>
              <a:ext uri="{FF2B5EF4-FFF2-40B4-BE49-F238E27FC236}">
                <a16:creationId xmlns:a16="http://schemas.microsoft.com/office/drawing/2014/main" id="{B9CABDD0-8DF6-4974-A224-9A2A81778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502" y="629793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51" name="Graphic 4">
            <a:extLst>
              <a:ext uri="{FF2B5EF4-FFF2-40B4-BE49-F238E27FC236}">
                <a16:creationId xmlns:a16="http://schemas.microsoft.com/office/drawing/2014/main" id="{D6E8B984-55B9-4A62-A043-997D00F0A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32680" y="5188771"/>
            <a:ext cx="1076787" cy="1076789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4FAF4A8-82EB-4F6F-B601-43EBF0BD12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26F2473F-E069-4558-9B41-E285BBE03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C9A4A76-2C9F-486C-9663-6A30A022D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8431DC7-D4CB-479A-AFA4-5B0C597A2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0755DA1-6F28-4612-A4A7-B915468C6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4616ED79-5475-49E6-A5FE-8D9DB12FB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1DCEB47-7140-4682-8DBF-7667BE28F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A931BD3-5A56-42F2-B6B5-647B28D1C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820E4C8E-4190-498D-9556-6DA668A81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54B2F30F-0B57-4D60-A087-CD6A471F68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FC5E8C73-ED41-4214-AEE6-3C5F49384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B1F94534-FE3E-476C-870B-E714E4A66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DE6C1B0-4D58-4937-B2B7-B1207CA18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CA90600-F2FB-B159-4E34-C35E35C7EF3E}"/>
              </a:ext>
            </a:extLst>
          </p:cNvPr>
          <p:cNvSpPr txBox="1"/>
          <p:nvPr/>
        </p:nvSpPr>
        <p:spPr>
          <a:xfrm>
            <a:off x="838200" y="1391619"/>
            <a:ext cx="4905401" cy="4042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4400" b="1" i="0" u="none" strike="noStrike" kern="1200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Dataset Description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161359-E06D-F0DD-646E-4576E64D0829}"/>
              </a:ext>
            </a:extLst>
          </p:cNvPr>
          <p:cNvSpPr txBox="1"/>
          <p:nvPr/>
        </p:nvSpPr>
        <p:spPr>
          <a:xfrm>
            <a:off x="6477270" y="1130846"/>
            <a:ext cx="4974771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40005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Dataset: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Indian Traffic Sign Dataset</a:t>
            </a:r>
          </a:p>
          <a:p>
            <a:pPr marL="40005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Total Classes: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52</a:t>
            </a:r>
          </a:p>
          <a:p>
            <a:pPr marL="40005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Image Format: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png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/.jpg</a:t>
            </a:r>
          </a:p>
          <a:p>
            <a:pPr marL="40005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CSV Columns: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857250" marR="0" lvl="1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ClassId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 Numeric class label (0 to 51)</a:t>
            </a:r>
          </a:p>
          <a:p>
            <a:pPr marL="857250" marR="0" lvl="1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Name: Traffic sign description</a:t>
            </a:r>
          </a:p>
          <a:p>
            <a:pPr marL="40005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Examples: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857250" marR="0" lvl="1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0: Give Way</a:t>
            </a:r>
          </a:p>
          <a:p>
            <a:pPr marL="857250" marR="0" lvl="1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1: No Entry</a:t>
            </a:r>
          </a:p>
          <a:p>
            <a:pPr marL="857250" marR="0" lvl="1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52: Refreshments</a:t>
            </a:r>
          </a:p>
          <a:p>
            <a:pPr marL="40005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4631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98F79A4-A6C7-4101-B1E9-27E05CB7C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3871489" cy="4096327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1CE7A08-2184-4B99-ABC0-B40CD1D3F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871489" cy="4096327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FEEBD9-6576-EDFE-3B11-2AD728826944}"/>
              </a:ext>
            </a:extLst>
          </p:cNvPr>
          <p:cNvSpPr txBox="1"/>
          <p:nvPr/>
        </p:nvSpPr>
        <p:spPr>
          <a:xfrm>
            <a:off x="1102368" y="3306515"/>
            <a:ext cx="3826286" cy="32153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Methodology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79558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9293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E5C5460-229E-46C8-A712-CC3179854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00654" y="4275786"/>
            <a:ext cx="2691346" cy="2582214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552FC29-9118-466F-940E-80C84EFDF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00654" y="4275786"/>
            <a:ext cx="2691346" cy="2582214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A41A94-BD14-53A4-C9AF-530CABC70151}"/>
              </a:ext>
            </a:extLst>
          </p:cNvPr>
          <p:cNvSpPr txBox="1"/>
          <p:nvPr/>
        </p:nvSpPr>
        <p:spPr>
          <a:xfrm>
            <a:off x="5211448" y="706508"/>
            <a:ext cx="687405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b="1" dirty="0">
                <a:solidFill>
                  <a:schemeClr val="bg1"/>
                </a:solidFill>
              </a:rPr>
              <a:t>1. Data Collection &amp; Preparation</a:t>
            </a: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	Loaded dataset &amp; label CSV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	Resized all images to 64×64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	Normalized and Augmented images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b="1" dirty="0">
                <a:solidFill>
                  <a:schemeClr val="bg1"/>
                </a:solidFill>
              </a:rPr>
              <a:t>2. Model Building</a:t>
            </a: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	CNN with multiple convolution, pooling, dropout layers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	Categorical </a:t>
            </a:r>
            <a:r>
              <a:rPr lang="en-US" dirty="0" err="1">
                <a:solidFill>
                  <a:schemeClr val="bg1"/>
                </a:solidFill>
              </a:rPr>
              <a:t>crossentropy</a:t>
            </a:r>
            <a:r>
              <a:rPr lang="en-US" dirty="0">
                <a:solidFill>
                  <a:schemeClr val="bg1"/>
                </a:solidFill>
              </a:rPr>
              <a:t> loss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	Optimizer: Adam</a:t>
            </a:r>
          </a:p>
        </p:txBody>
      </p:sp>
      <p:grpSp>
        <p:nvGrpSpPr>
          <p:cNvPr id="24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77704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FE6529-E9FA-A895-5202-22E69ACA2598}"/>
              </a:ext>
            </a:extLst>
          </p:cNvPr>
          <p:cNvSpPr txBox="1"/>
          <p:nvPr/>
        </p:nvSpPr>
        <p:spPr>
          <a:xfrm>
            <a:off x="838200" y="1748452"/>
            <a:ext cx="4974771" cy="3587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Data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Preprocessing</a:t>
            </a:r>
          </a:p>
        </p:txBody>
      </p:sp>
      <p:grpSp>
        <p:nvGrpSpPr>
          <p:cNvPr id="14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8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2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3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34EC829-32E5-7D41-1CC8-D4FEF3EE6B84}"/>
              </a:ext>
            </a:extLst>
          </p:cNvPr>
          <p:cNvSpPr txBox="1"/>
          <p:nvPr/>
        </p:nvSpPr>
        <p:spPr>
          <a:xfrm>
            <a:off x="6545477" y="1624622"/>
            <a:ext cx="497477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Converted all images to RGB format</a:t>
            </a: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Applied data augmentation:</a:t>
            </a:r>
          </a:p>
          <a:p>
            <a:pPr marL="80010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Rotation, Zoom, Shear, Horizontal Flip</a:t>
            </a: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Train-Test Split: 80/20</a:t>
            </a: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One-hot encoding for labels</a:t>
            </a: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Handled class imbalance via augmentation</a:t>
            </a:r>
          </a:p>
        </p:txBody>
      </p:sp>
    </p:spTree>
    <p:extLst>
      <p:ext uri="{BB962C8B-B14F-4D97-AF65-F5344CB8AC3E}">
        <p14:creationId xmlns:p14="http://schemas.microsoft.com/office/powerpoint/2010/main" val="1758475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698C9B-CEFA-2D97-518F-6C673AE32C5B}"/>
              </a:ext>
            </a:extLst>
          </p:cNvPr>
          <p:cNvSpPr txBox="1"/>
          <p:nvPr/>
        </p:nvSpPr>
        <p:spPr>
          <a:xfrm>
            <a:off x="1102368" y="694268"/>
            <a:ext cx="3553510" cy="54779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CNN Architecture</a:t>
            </a:r>
          </a:p>
        </p:txBody>
      </p:sp>
      <p:grpSp>
        <p:nvGrpSpPr>
          <p:cNvPr id="12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6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37426" y="2203010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4D8436-13CA-7655-D71E-426F37263918}"/>
              </a:ext>
            </a:extLst>
          </p:cNvPr>
          <p:cNvSpPr txBox="1"/>
          <p:nvPr/>
        </p:nvSpPr>
        <p:spPr>
          <a:xfrm>
            <a:off x="5944578" y="1642910"/>
            <a:ext cx="628994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Input:</a:t>
            </a:r>
            <a:r>
              <a:rPr lang="en-US" dirty="0">
                <a:solidFill>
                  <a:schemeClr val="bg1"/>
                </a:solidFill>
              </a:rPr>
              <a:t> 64x64x3</a:t>
            </a: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Conv Layer 1:</a:t>
            </a:r>
            <a:r>
              <a:rPr lang="en-US" dirty="0">
                <a:solidFill>
                  <a:schemeClr val="bg1"/>
                </a:solidFill>
              </a:rPr>
              <a:t> 32 filters + ReLU + </a:t>
            </a:r>
            <a:r>
              <a:rPr lang="en-US" dirty="0" err="1">
                <a:solidFill>
                  <a:schemeClr val="bg1"/>
                </a:solidFill>
              </a:rPr>
              <a:t>MaxPooling</a:t>
            </a:r>
            <a:endParaRPr lang="en-US" dirty="0">
              <a:solidFill>
                <a:schemeClr val="bg1"/>
              </a:solidFill>
            </a:endParaRP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Conv Layer 2:</a:t>
            </a:r>
            <a:r>
              <a:rPr lang="en-US" dirty="0">
                <a:solidFill>
                  <a:schemeClr val="bg1"/>
                </a:solidFill>
              </a:rPr>
              <a:t> 64 filters + ReLU + </a:t>
            </a:r>
            <a:r>
              <a:rPr lang="en-US" dirty="0" err="1">
                <a:solidFill>
                  <a:schemeClr val="bg1"/>
                </a:solidFill>
              </a:rPr>
              <a:t>MaxPooling</a:t>
            </a:r>
            <a:endParaRPr lang="en-US" dirty="0">
              <a:solidFill>
                <a:schemeClr val="bg1"/>
              </a:solidFill>
            </a:endParaRP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Dropout:</a:t>
            </a:r>
            <a:r>
              <a:rPr lang="en-US" dirty="0">
                <a:solidFill>
                  <a:schemeClr val="bg1"/>
                </a:solidFill>
              </a:rPr>
              <a:t> 0.25</a:t>
            </a: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Conv Layer 3:</a:t>
            </a:r>
            <a:r>
              <a:rPr lang="en-US" dirty="0">
                <a:solidFill>
                  <a:schemeClr val="bg1"/>
                </a:solidFill>
              </a:rPr>
              <a:t> 128 filters + ReLU + </a:t>
            </a:r>
            <a:r>
              <a:rPr lang="en-US" dirty="0" err="1">
                <a:solidFill>
                  <a:schemeClr val="bg1"/>
                </a:solidFill>
              </a:rPr>
              <a:t>MaxPooling</a:t>
            </a:r>
            <a:endParaRPr lang="en-US" dirty="0">
              <a:solidFill>
                <a:schemeClr val="bg1"/>
              </a:solidFill>
            </a:endParaRP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Flatten → Dense (128) → Dropout → Output (52 </a:t>
            </a:r>
            <a:r>
              <a:rPr lang="en-US" b="1" dirty="0" err="1">
                <a:solidFill>
                  <a:schemeClr val="bg1"/>
                </a:solidFill>
              </a:rPr>
              <a:t>Softmax</a:t>
            </a:r>
            <a:r>
              <a:rPr lang="en-US" b="1" dirty="0">
                <a:solidFill>
                  <a:schemeClr val="bg1"/>
                </a:solidFill>
              </a:rPr>
              <a:t>)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340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08B23C-3BA9-0293-D830-37F38DF13F29}"/>
              </a:ext>
            </a:extLst>
          </p:cNvPr>
          <p:cNvSpPr txBox="1"/>
          <p:nvPr/>
        </p:nvSpPr>
        <p:spPr>
          <a:xfrm>
            <a:off x="1102368" y="923293"/>
            <a:ext cx="4547318" cy="4641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Training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&amp; Hyperparameters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0A98BBA-D3EA-45DC-B8A1-9C61397D4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5862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5744 h 274629"/>
              <a:gd name="connsiteX2" fmla="*/ 924829 w 1170294"/>
              <a:gd name="connsiteY2" fmla="*/ 0 h 274629"/>
              <a:gd name="connsiteX3" fmla="*/ 1170294 w 1170294"/>
              <a:gd name="connsiteY3" fmla="*/ 24546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577 h 274629"/>
              <a:gd name="connsiteX11" fmla="*/ 215168 w 1170294"/>
              <a:gd name="connsiteY11" fmla="*/ 23574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5744"/>
                </a:lnTo>
                <a:lnTo>
                  <a:pt x="924829" y="0"/>
                </a:lnTo>
                <a:lnTo>
                  <a:pt x="1170294" y="24546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577"/>
                </a:lnTo>
                <a:lnTo>
                  <a:pt x="215168" y="235744"/>
                </a:ln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4C95AB-2BD7-4E38-BDD5-1E41F3A9B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90894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8174 h 274629"/>
              <a:gd name="connsiteX2" fmla="*/ 924829 w 1170294"/>
              <a:gd name="connsiteY2" fmla="*/ 0 h 274629"/>
              <a:gd name="connsiteX3" fmla="*/ 1170294 w 1170294"/>
              <a:gd name="connsiteY3" fmla="*/ 24789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789 h 274629"/>
              <a:gd name="connsiteX11" fmla="*/ 215168 w 1170294"/>
              <a:gd name="connsiteY11" fmla="*/ 23817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8174"/>
                </a:lnTo>
                <a:lnTo>
                  <a:pt x="924829" y="0"/>
                </a:lnTo>
                <a:lnTo>
                  <a:pt x="1170294" y="24789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789"/>
                </a:lnTo>
                <a:lnTo>
                  <a:pt x="215168" y="23817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E8C8CB-73EF-2F1C-667E-3B1830A792EB}"/>
              </a:ext>
            </a:extLst>
          </p:cNvPr>
          <p:cNvSpPr txBox="1"/>
          <p:nvPr/>
        </p:nvSpPr>
        <p:spPr>
          <a:xfrm>
            <a:off x="6234868" y="1130846"/>
            <a:ext cx="5217173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22860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Epochs:</a:t>
            </a:r>
            <a:r>
              <a:rPr lang="en-US" sz="2000" dirty="0">
                <a:solidFill>
                  <a:schemeClr val="bg1"/>
                </a:solidFill>
              </a:rPr>
              <a:t> 25</a:t>
            </a:r>
          </a:p>
          <a:p>
            <a:pPr marL="342900" indent="-22860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Batch Size:</a:t>
            </a:r>
            <a:r>
              <a:rPr lang="en-US" sz="2000" dirty="0">
                <a:solidFill>
                  <a:schemeClr val="bg1"/>
                </a:solidFill>
              </a:rPr>
              <a:t> 64</a:t>
            </a:r>
          </a:p>
          <a:p>
            <a:pPr marL="342900" indent="-22860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Validation Split:</a:t>
            </a:r>
            <a:r>
              <a:rPr lang="en-US" sz="2000" dirty="0">
                <a:solidFill>
                  <a:schemeClr val="bg1"/>
                </a:solidFill>
              </a:rPr>
              <a:t> 20%</a:t>
            </a:r>
          </a:p>
          <a:p>
            <a:pPr marL="342900" indent="-22860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bg1"/>
                </a:solidFill>
              </a:rPr>
              <a:t>EarlyStopping</a:t>
            </a:r>
            <a:r>
              <a:rPr lang="en-US" sz="2000" b="1" dirty="0">
                <a:solidFill>
                  <a:schemeClr val="bg1"/>
                </a:solidFill>
              </a:rPr>
              <a:t> &amp; </a:t>
            </a:r>
            <a:r>
              <a:rPr lang="en-US" sz="2000" b="1" dirty="0" err="1">
                <a:solidFill>
                  <a:schemeClr val="bg1"/>
                </a:solidFill>
              </a:rPr>
              <a:t>ModelCheckpoint</a:t>
            </a:r>
            <a:endParaRPr lang="en-US" sz="2000" dirty="0">
              <a:solidFill>
                <a:schemeClr val="bg1"/>
              </a:solidFill>
            </a:endParaRPr>
          </a:p>
          <a:p>
            <a:pPr marL="342900" indent="-22860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Data Augmentation Used for Training Generator</a:t>
            </a:r>
            <a:endParaRPr lang="en-US" sz="2000" dirty="0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5836128-58DE-4E5A-B27E-DFE747CA0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21348" y="5364542"/>
            <a:ext cx="1562428" cy="1493465"/>
            <a:chOff x="3121343" y="4864099"/>
            <a:chExt cx="2085971" cy="1993901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38556" y="4981312"/>
              <a:ext cx="442726" cy="44272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8809" y="4871565"/>
              <a:ext cx="902626" cy="902626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1343" y="4864099"/>
              <a:ext cx="1152732" cy="115273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52324" y="4894707"/>
              <a:ext cx="1321462" cy="132183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15037" y="4957793"/>
              <a:ext cx="1428975" cy="1428975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301642" y="5044398"/>
              <a:ext cx="1490195" cy="1490195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09523" y="5152279"/>
              <a:ext cx="1509607" cy="1509607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538685" y="5279576"/>
              <a:ext cx="1488326" cy="1490192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83896" y="5426652"/>
              <a:ext cx="1429720" cy="1429720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DA0090F-4FBF-434D-83B1-B274F83A9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01021" y="5597624"/>
              <a:ext cx="1275308" cy="1260376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8DF6032-C07A-45C6-8A4F-04EF4EDC0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41456" y="5797338"/>
              <a:ext cx="1065858" cy="1060662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5B89F44-A096-479D-AD1F-120561C282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1830" y="6039978"/>
              <a:ext cx="818022" cy="81802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47375" y="6390131"/>
              <a:ext cx="442354" cy="442354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5178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13B747-FBF4-B14F-129E-088F8D9CD28E}"/>
              </a:ext>
            </a:extLst>
          </p:cNvPr>
          <p:cNvSpPr txBox="1"/>
          <p:nvPr/>
        </p:nvSpPr>
        <p:spPr>
          <a:xfrm>
            <a:off x="1102368" y="1877492"/>
            <a:ext cx="4030132" cy="32153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Model Evaluation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2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8F4E62-4E7C-04BB-971F-97C5E3AEBD88}"/>
              </a:ext>
            </a:extLst>
          </p:cNvPr>
          <p:cNvSpPr txBox="1"/>
          <p:nvPr/>
        </p:nvSpPr>
        <p:spPr>
          <a:xfrm>
            <a:off x="6234868" y="1130846"/>
            <a:ext cx="521717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Performance Metrics on Test Set: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Accuracy:</a:t>
            </a:r>
            <a:r>
              <a:rPr lang="en-US" dirty="0">
                <a:solidFill>
                  <a:schemeClr val="bg1"/>
                </a:solidFill>
              </a:rPr>
              <a:t> 88.37%</a:t>
            </a:r>
          </a:p>
          <a:p>
            <a:pPr marL="285750" indent="-28575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Precision (Macro):</a:t>
            </a:r>
            <a:r>
              <a:rPr lang="en-US" dirty="0">
                <a:solidFill>
                  <a:schemeClr val="bg1"/>
                </a:solidFill>
              </a:rPr>
              <a:t> 88.71%</a:t>
            </a:r>
          </a:p>
          <a:p>
            <a:pPr marL="285750" indent="-28575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Recall (Macro):</a:t>
            </a:r>
            <a:r>
              <a:rPr lang="en-US" dirty="0">
                <a:solidFill>
                  <a:schemeClr val="bg1"/>
                </a:solidFill>
              </a:rPr>
              <a:t> 87.33%</a:t>
            </a:r>
          </a:p>
          <a:p>
            <a:pPr marL="285750" indent="-28575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F1-Score (Macro):</a:t>
            </a:r>
            <a:r>
              <a:rPr lang="en-US" dirty="0">
                <a:solidFill>
                  <a:schemeClr val="bg1"/>
                </a:solidFill>
              </a:rPr>
              <a:t> 87.38%</a:t>
            </a:r>
          </a:p>
          <a:p>
            <a:pPr marL="285750" indent="-28575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Confusion matrix revealed strong performance across most classes.</a:t>
            </a:r>
          </a:p>
        </p:txBody>
      </p:sp>
      <p:grpSp>
        <p:nvGrpSpPr>
          <p:cNvPr id="30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45957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Graphic 212">
            <a:extLst>
              <a:ext uri="{FF2B5EF4-FFF2-40B4-BE49-F238E27FC236}">
                <a16:creationId xmlns:a16="http://schemas.microsoft.com/office/drawing/2014/main" id="{55C61911-45B2-48BF-AC7A-1EB579B42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02373" y="798490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4" name="Graphic 212">
            <a:extLst>
              <a:ext uri="{FF2B5EF4-FFF2-40B4-BE49-F238E27FC236}">
                <a16:creationId xmlns:a16="http://schemas.microsoft.com/office/drawing/2014/main" id="{2DE4D4CE-6DAE-4A05-BE5B-6BCE3F4EC7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02373" y="798490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B8606B-B5F8-9825-92BB-2C515ED866B4}"/>
              </a:ext>
            </a:extLst>
          </p:cNvPr>
          <p:cNvSpPr txBox="1"/>
          <p:nvPr/>
        </p:nvSpPr>
        <p:spPr>
          <a:xfrm>
            <a:off x="1102367" y="1264801"/>
            <a:ext cx="4114571" cy="42963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Sample Predictions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8CB1D39-68D4-4372-BF3B-2A33A7495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10C23D31-5B0A-4956-A59F-A24F57D2A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988" y="4604761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4C6FC6E-4AAF-4628-B7E5-85DF9D32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988" y="4604761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690CF0-6539-7E51-6030-BA9F2C8E125E}"/>
              </a:ext>
            </a:extLst>
          </p:cNvPr>
          <p:cNvSpPr txBox="1"/>
          <p:nvPr/>
        </p:nvSpPr>
        <p:spPr>
          <a:xfrm>
            <a:off x="6234868" y="1345827"/>
            <a:ext cx="521717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Correctly Classified:</a:t>
            </a:r>
          </a:p>
          <a:p>
            <a:pPr marL="742950" lvl="1" indent="-22860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Stop, No Entry, Left Turn</a:t>
            </a:r>
          </a:p>
          <a:p>
            <a:pPr indent="-22860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Misclassified:</a:t>
            </a:r>
          </a:p>
          <a:p>
            <a:pPr marL="742950" lvl="1" indent="-22860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U-turn ↔️ Roundabout (visually similar)</a:t>
            </a:r>
          </a:p>
          <a:p>
            <a:pPr indent="-22860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Plan to visualize Top-3 predicted classes for better transparency</a:t>
            </a:r>
          </a:p>
        </p:txBody>
      </p:sp>
      <p:grpSp>
        <p:nvGrpSpPr>
          <p:cNvPr id="24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81495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BFD255-6964-2583-9CA7-7F08CE16C9D7}"/>
              </a:ext>
            </a:extLst>
          </p:cNvPr>
          <p:cNvSpPr txBox="1"/>
          <p:nvPr/>
        </p:nvSpPr>
        <p:spPr>
          <a:xfrm>
            <a:off x="1102368" y="694268"/>
            <a:ext cx="3553510" cy="54779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Conclusion &amp; Future Work</a:t>
            </a:r>
          </a:p>
        </p:txBody>
      </p:sp>
      <p:grpSp>
        <p:nvGrpSpPr>
          <p:cNvPr id="12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6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37426" y="2203010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FE145A-6F18-F2C0-AB74-2E60AF685BBF}"/>
              </a:ext>
            </a:extLst>
          </p:cNvPr>
          <p:cNvSpPr txBox="1"/>
          <p:nvPr/>
        </p:nvSpPr>
        <p:spPr>
          <a:xfrm>
            <a:off x="5872798" y="1130846"/>
            <a:ext cx="5579244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</a:rPr>
              <a:t>Conclusion:</a:t>
            </a:r>
            <a:endParaRPr lang="en-US" sz="2000" dirty="0">
              <a:solidFill>
                <a:schemeClr val="bg1"/>
              </a:solidFill>
            </a:endParaRPr>
          </a:p>
          <a:p>
            <a:pPr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Successfully built a CNN model that can classify 52 Indian traffic signs with high accuracy.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</a:rPr>
              <a:t>Future Enhancements:</a:t>
            </a:r>
            <a:endParaRPr lang="en-US" sz="2000" dirty="0">
              <a:solidFill>
                <a:schemeClr val="bg1"/>
              </a:solidFill>
            </a:endParaRPr>
          </a:p>
          <a:p>
            <a:pPr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Use deeper CNNs (e.g., </a:t>
            </a:r>
            <a:r>
              <a:rPr lang="en-US" sz="2000" dirty="0" err="1">
                <a:solidFill>
                  <a:schemeClr val="bg1"/>
                </a:solidFill>
              </a:rPr>
              <a:t>ResNet</a:t>
            </a:r>
            <a:r>
              <a:rPr lang="en-US" sz="2000" dirty="0">
                <a:solidFill>
                  <a:schemeClr val="bg1"/>
                </a:solidFill>
              </a:rPr>
              <a:t>)</a:t>
            </a:r>
          </a:p>
          <a:p>
            <a:pPr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Apply Transfer Learning</a:t>
            </a:r>
          </a:p>
          <a:p>
            <a:pPr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Deploy via </a:t>
            </a:r>
            <a:r>
              <a:rPr lang="en-US" sz="2000" dirty="0" err="1">
                <a:solidFill>
                  <a:schemeClr val="bg1"/>
                </a:solidFill>
              </a:rPr>
              <a:t>Streamlit</a:t>
            </a:r>
            <a:r>
              <a:rPr lang="en-US" sz="2000" dirty="0">
                <a:solidFill>
                  <a:schemeClr val="bg1"/>
                </a:solidFill>
              </a:rPr>
              <a:t> or Mobile App (</a:t>
            </a:r>
            <a:r>
              <a:rPr lang="en-US" sz="2000" dirty="0" err="1">
                <a:solidFill>
                  <a:schemeClr val="bg1"/>
                </a:solidFill>
              </a:rPr>
              <a:t>TFLite</a:t>
            </a:r>
            <a:r>
              <a:rPr lang="en-US" sz="2000" dirty="0">
                <a:solidFill>
                  <a:schemeClr val="bg1"/>
                </a:solidFill>
              </a:rPr>
              <a:t>)</a:t>
            </a:r>
          </a:p>
          <a:p>
            <a:pPr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Incorporate real-time video detection</a:t>
            </a:r>
          </a:p>
        </p:txBody>
      </p:sp>
    </p:spTree>
    <p:extLst>
      <p:ext uri="{BB962C8B-B14F-4D97-AF65-F5344CB8AC3E}">
        <p14:creationId xmlns:p14="http://schemas.microsoft.com/office/powerpoint/2010/main" val="3638613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0E5A28-51E0-9834-4033-F15C9F909E0C}"/>
              </a:ext>
            </a:extLst>
          </p:cNvPr>
          <p:cNvSpPr txBox="1"/>
          <p:nvPr/>
        </p:nvSpPr>
        <p:spPr>
          <a:xfrm>
            <a:off x="3581400" y="965580"/>
            <a:ext cx="5204489" cy="31605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15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19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03429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418</Words>
  <Application>Microsoft Office PowerPoint</Application>
  <PresentationFormat>Widescreen</PresentationFormat>
  <Paragraphs>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Sanjaikumar S</dc:creator>
  <cp:lastModifiedBy>Sanjaikumar S</cp:lastModifiedBy>
  <cp:revision>7</cp:revision>
  <dcterms:created xsi:type="dcterms:W3CDTF">2025-07-28T12:06:07Z</dcterms:created>
  <dcterms:modified xsi:type="dcterms:W3CDTF">2025-07-28T16:04:25Z</dcterms:modified>
</cp:coreProperties>
</file>
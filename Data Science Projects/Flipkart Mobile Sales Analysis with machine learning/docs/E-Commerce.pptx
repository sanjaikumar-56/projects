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7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0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6A75-9D3C-5720-DE0A-DE4F2840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99DBB-C9C3-A248-977F-EF7081B8F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6022-C327-FE72-5543-001965E4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F0C1C-9751-AE6F-0B3C-94F83CBE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23BA0-F451-BE2E-3FBF-D2056944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0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FFDA-E3ED-6D61-6ED0-623CD607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BA58C-808A-EC5F-B107-507A60093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30B6F-0C44-055C-C3D3-D7D6AAFB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FD72-CD8F-A052-1363-2D712F77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AB87-0BBF-D542-4491-AE2266E3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4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911A-5D6B-E3AB-7BCC-EF661101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66C56-3E35-9BBA-9585-D0A87D210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2200-2010-72B4-3B26-65DF2500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71883-EB16-9F2D-B07D-83E0DBB6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F585-0CEB-2C31-66BA-36CBE396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3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E870-501C-86EC-EB5B-EDB99FA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875C-428E-315A-A471-DF8241449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551D6-7D67-FB0E-8AE0-B3611E74C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EDF1-E8ED-971E-6444-013E2484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7CAE0-2DF4-BB38-EB15-2AAD012F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E0406-A20B-9460-41A6-D45F9D96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93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3EAE-F283-3038-846A-E253EDED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76273-39CB-E4A5-8B6B-9BECC51BE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2DF3D-4614-B6F3-2CE9-561139CB5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6CD57-D9B6-741A-2678-BEF2579C3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55797-8A40-3164-EC33-39A16D069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8F887-73F7-05F8-EF52-239E16448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F7C93-BFB1-EE44-AFA9-56C1D7A2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6A6CA-A129-193A-E902-506293BE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9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33E7-C89B-014D-85BD-6B3227B0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A32D4-0F52-970B-161B-C026629C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5C60A-2842-B51F-68C9-DFE163D7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8E2DD-ADE0-06BA-AFCA-5CDB6CAE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1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E6730-16D9-8BA5-74B1-F7E8D017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D0817-3CF6-333D-80EF-EAFAA22F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8C388-4759-A13E-33F8-60A2751A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6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B5D5-A086-C06F-E5DA-5ED02984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FCE9-0A67-89D6-B6D6-603437F9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2B2B0-3F88-2566-5468-99A97548C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9CB32-3F46-B77C-2360-DA723F63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D6CF9-0617-F762-AF68-AE9C5A59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95655-D96F-2045-F603-B08C463D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8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7F7-B819-3773-F70E-3DB726A2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C1F6F-3F32-5D8E-3A06-F5AB15CE3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946C2-0D53-4A4C-413A-4A122135F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F934A-61CF-BE41-5755-655C0AFF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27E4A-FFF0-3C45-1EC7-04BD26DF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CCAA8-4ACD-26CA-7B07-63559699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2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305-CFE2-ECE0-20CB-7C319D87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B3594-C0CA-C018-C042-244C38C72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4FAB2-FAA2-D94C-1351-29C6A614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4D403-0A51-21DA-2ECD-7D94CCBB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1FF6E-C11A-09EE-508E-AE13C1EA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7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0CC42-E032-05AB-990F-13A7A8753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42D44-E754-AE25-EFA5-ABC0885FA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C96BC-3C0C-0483-78C9-46594301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AC326-76C5-F969-B00E-44A1AFED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7F58-3A89-15B4-F6D3-21D4738A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3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BEAAF-93E7-E1B4-E5AD-280E1E46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6CC71-153A-4E8C-7EBD-499A7209B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FB2A8-F779-0CA0-676D-FF691B91B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760B3-6A31-4C48-BCBD-CD6D3934BE1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E18EC-7E54-B6B8-1DBA-A27517637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B2A55-8224-0196-1651-EE858471A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7CEE4-D300-4E13-B174-E5BB71ACB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6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12D4E291-5EB6-A51D-B7C0-71E78D01FF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3" b="1110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1D96D-CD30-CF9E-0508-36DA7F75A559}"/>
              </a:ext>
            </a:extLst>
          </p:cNvPr>
          <p:cNvSpPr txBox="1"/>
          <p:nvPr/>
        </p:nvSpPr>
        <p:spPr>
          <a:xfrm>
            <a:off x="827313" y="88218"/>
            <a:ext cx="10863943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E-commerce Product Classification using Machine Learning</a:t>
            </a:r>
            <a:br>
              <a:rPr lang="en-US" sz="5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51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FFA4B-0C5A-0B13-6E8F-49D565F1C914}"/>
              </a:ext>
            </a:extLst>
          </p:cNvPr>
          <p:cNvSpPr txBox="1"/>
          <p:nvPr/>
        </p:nvSpPr>
        <p:spPr>
          <a:xfrm>
            <a:off x="9052560" y="4974336"/>
            <a:ext cx="3118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Sanjaikumar S</a:t>
            </a:r>
            <a:br>
              <a:rPr lang="en-US" sz="2400" b="1" dirty="0"/>
            </a:br>
            <a:r>
              <a:rPr lang="en-US" sz="2400" b="1" dirty="0"/>
              <a:t>DA &amp; DS Feb 2025</a:t>
            </a:r>
          </a:p>
          <a:p>
            <a:r>
              <a:rPr lang="en-US" sz="2400" b="1" dirty="0"/>
              <a:t>22-07-2025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CD4ED-8177-827C-2AB0-2186127A4E3C}"/>
              </a:ext>
            </a:extLst>
          </p:cNvPr>
          <p:cNvSpPr txBox="1"/>
          <p:nvPr/>
        </p:nvSpPr>
        <p:spPr>
          <a:xfrm>
            <a:off x="4507992" y="2258568"/>
            <a:ext cx="3456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Flipkart Mobiles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22462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A916F-CFFD-E103-90FF-2FDE27FCB905}"/>
              </a:ext>
            </a:extLst>
          </p:cNvPr>
          <p:cNvSpPr txBox="1"/>
          <p:nvPr/>
        </p:nvSpPr>
        <p:spPr>
          <a:xfrm>
            <a:off x="631369" y="1208634"/>
            <a:ext cx="4876800" cy="7868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Objective 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3F19C1-AB3E-6135-6F3D-21C68A6A9B1E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</a:t>
            </a:r>
            <a:r>
              <a:rPr lang="en-US" sz="2000" b="1" dirty="0">
                <a:solidFill>
                  <a:schemeClr val="bg1"/>
                </a:solidFill>
              </a:rPr>
              <a:t>analyze product data</a:t>
            </a:r>
            <a:r>
              <a:rPr lang="en-US" sz="2000" dirty="0">
                <a:solidFill>
                  <a:schemeClr val="bg1"/>
                </a:solidFill>
              </a:rPr>
              <a:t> from an e-commerce platform (Flipkart).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</a:t>
            </a:r>
            <a:r>
              <a:rPr lang="en-US" sz="2000" b="1" dirty="0">
                <a:solidFill>
                  <a:schemeClr val="bg1"/>
                </a:solidFill>
              </a:rPr>
              <a:t>classify products</a:t>
            </a:r>
            <a:r>
              <a:rPr lang="en-US" sz="2000" dirty="0">
                <a:solidFill>
                  <a:schemeClr val="bg1"/>
                </a:solidFill>
              </a:rPr>
              <a:t> based on price range using supervised machine learning.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identify the </a:t>
            </a:r>
            <a:r>
              <a:rPr lang="en-US" sz="2000" b="1" dirty="0">
                <a:solidFill>
                  <a:schemeClr val="bg1"/>
                </a:solidFill>
              </a:rPr>
              <a:t>best performing model</a:t>
            </a:r>
            <a:r>
              <a:rPr lang="en-US" sz="2000" dirty="0">
                <a:solidFill>
                  <a:schemeClr val="bg1"/>
                </a:solidFill>
              </a:rPr>
              <a:t> using evaluation metrics like </a:t>
            </a:r>
            <a:r>
              <a:rPr lang="en-US" sz="2000" b="1" dirty="0">
                <a:solidFill>
                  <a:schemeClr val="bg1"/>
                </a:solidFill>
              </a:rPr>
              <a:t>F1 Score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document the </a:t>
            </a:r>
            <a:r>
              <a:rPr lang="en-US" sz="2000" b="1" dirty="0">
                <a:solidFill>
                  <a:schemeClr val="bg1"/>
                </a:solidFill>
              </a:rPr>
              <a:t>entire workflow</a:t>
            </a:r>
            <a:r>
              <a:rPr lang="en-US" sz="2000" dirty="0">
                <a:solidFill>
                  <a:schemeClr val="bg1"/>
                </a:solidFill>
              </a:rPr>
              <a:t> from web scraping to model saving and reporting.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4915A-3DB0-5C8A-4121-2D0BEF834079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44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Data Collection :</a:t>
            </a:r>
            <a:endParaRPr lang="en-US" sz="4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489A6BA-CAE1-4BBA-3B07-982EBF947495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Scraped product details from </a:t>
            </a:r>
            <a:r>
              <a:rPr lang="en-US" altLang="en-US" sz="2000" b="1" dirty="0">
                <a:solidFill>
                  <a:schemeClr val="bg1"/>
                </a:solidFill>
              </a:rPr>
              <a:t>Flipkart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Features scraped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Product Name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Price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Rating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Number of Reviews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3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32FB8-E6CB-FB6D-68BB-095EB3AD98BA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Cleaning: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2074ADE-8197-C740-4F49-B035514BA4FE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Remove Nulls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Remove Duplicates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Change Datatypes for columns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Standardize Names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Data saved in CSV file and later loaded into MySQL for analysis.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3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969FB-9C7A-3182-7997-BC37CC0836A0}"/>
              </a:ext>
            </a:extLst>
          </p:cNvPr>
          <p:cNvSpPr txBox="1"/>
          <p:nvPr/>
        </p:nvSpPr>
        <p:spPr>
          <a:xfrm>
            <a:off x="174165" y="669925"/>
            <a:ext cx="534488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Preprocessing 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F08C0C0-43EA-7B27-2E6F-B988F5E2D94F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Handled missing values and cleaned text fields.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Converted price, ratings, and reviews to numeric format.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Created a </a:t>
            </a:r>
            <a:r>
              <a:rPr lang="en-US" sz="2000" b="1" dirty="0">
                <a:solidFill>
                  <a:schemeClr val="bg1"/>
                </a:solidFill>
              </a:rPr>
              <a:t>target variable (Price Label)</a:t>
            </a:r>
            <a:r>
              <a:rPr lang="en-US" sz="2000" dirty="0">
                <a:solidFill>
                  <a:schemeClr val="bg1"/>
                </a:solidFill>
              </a:rPr>
              <a:t> using </a:t>
            </a:r>
            <a:r>
              <a:rPr lang="en-US" sz="2000" dirty="0" err="1">
                <a:solidFill>
                  <a:schemeClr val="bg1"/>
                </a:solidFill>
              </a:rPr>
              <a:t>KMeans</a:t>
            </a:r>
            <a:r>
              <a:rPr lang="en-US" sz="2000" dirty="0">
                <a:solidFill>
                  <a:schemeClr val="bg1"/>
                </a:solidFill>
              </a:rPr>
              <a:t> clustering: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Low Price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Mid Price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 Price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4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3A7E0-E6AE-7F26-AC8B-ADA983B1B6AD}"/>
              </a:ext>
            </a:extLst>
          </p:cNvPr>
          <p:cNvSpPr txBox="1"/>
          <p:nvPr/>
        </p:nvSpPr>
        <p:spPr>
          <a:xfrm>
            <a:off x="1295400" y="669925"/>
            <a:ext cx="4800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rating distribution&#10;&#10;AI-generated content may be incorrect.">
            <a:extLst>
              <a:ext uri="{FF2B5EF4-FFF2-40B4-BE49-F238E27FC236}">
                <a16:creationId xmlns:a16="http://schemas.microsoft.com/office/drawing/2014/main" id="{DB0B40E0-CFCD-C1E4-E7FF-9089AB72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656" y="97110"/>
            <a:ext cx="3513561" cy="21523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6B7A92-3CA9-ADC0-55D2-B22378A3392E}"/>
              </a:ext>
            </a:extLst>
          </p:cNvPr>
          <p:cNvSpPr txBox="1"/>
          <p:nvPr/>
        </p:nvSpPr>
        <p:spPr>
          <a:xfrm>
            <a:off x="1205119" y="2782609"/>
            <a:ext cx="6530703" cy="2484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marR="0" lvl="0" indent="-285750" fontAlgn="base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Price Distribution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Right-skewed, majority under ₹20,000</a:t>
            </a:r>
          </a:p>
          <a:p>
            <a:pPr marL="285750" marR="0" lvl="0" indent="-285750" fontAlgn="base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Ratings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Majority products rated above 4</a:t>
            </a:r>
          </a:p>
          <a:p>
            <a:pPr marL="285750" lvl="0" indent="-285750" fontAlgn="base">
              <a:lnSpc>
                <a:spcPct val="16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Realme</a:t>
            </a:r>
            <a:r>
              <a:rPr lang="en-IN" dirty="0">
                <a:solidFill>
                  <a:schemeClr val="bg1"/>
                </a:solidFill>
              </a:rPr>
              <a:t>, </a:t>
            </a:r>
            <a:r>
              <a:rPr lang="en-IN" b="1" dirty="0">
                <a:solidFill>
                  <a:schemeClr val="bg1"/>
                </a:solidFill>
              </a:rPr>
              <a:t>Samsung</a:t>
            </a:r>
            <a:r>
              <a:rPr lang="en-IN" dirty="0">
                <a:solidFill>
                  <a:schemeClr val="bg1"/>
                </a:solidFill>
              </a:rPr>
              <a:t>, and </a:t>
            </a:r>
            <a:r>
              <a:rPr lang="en-IN" b="1" dirty="0">
                <a:solidFill>
                  <a:schemeClr val="bg1"/>
                </a:solidFill>
              </a:rPr>
              <a:t>Vivo</a:t>
            </a:r>
            <a:r>
              <a:rPr lang="en-IN" dirty="0">
                <a:solidFill>
                  <a:schemeClr val="bg1"/>
                </a:solidFill>
              </a:rPr>
              <a:t> are the top 3 brands with the highest product count.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A graph of a number of mobile phones&#10;&#10;AI-generated content may be incorrect.">
            <a:extLst>
              <a:ext uri="{FF2B5EF4-FFF2-40B4-BE49-F238E27FC236}">
                <a16:creationId xmlns:a16="http://schemas.microsoft.com/office/drawing/2014/main" id="{5C6AEA1C-1F97-A9EF-B8DB-8B92C7F00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599" y="2547441"/>
            <a:ext cx="3871677" cy="211974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29053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75913D6-C319-C72A-9FA0-B60988A40F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0900" y="4796852"/>
            <a:ext cx="3243072" cy="201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3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FF348-CA45-8FA2-51AD-00A665E09290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Clustering Analysis: Product Label Creation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32037D9-27A2-B9E0-9F51-64B9FCE8A9C5}"/>
              </a:ext>
            </a:extLst>
          </p:cNvPr>
          <p:cNvSpPr txBox="1"/>
          <p:nvPr/>
        </p:nvSpPr>
        <p:spPr>
          <a:xfrm>
            <a:off x="1392666" y="2398956"/>
            <a:ext cx="10435539" cy="41886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Objective</a:t>
            </a:r>
            <a:r>
              <a:rPr lang="en-US" sz="1900" dirty="0">
                <a:solidFill>
                  <a:schemeClr val="bg1"/>
                </a:solidFill>
              </a:rPr>
              <a:t>:</a:t>
            </a:r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>
                <a:solidFill>
                  <a:schemeClr val="bg1"/>
                </a:solidFill>
              </a:rPr>
              <a:t>Group similar products based on features to assign meaningful cluster labels (used for classification).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Process</a:t>
            </a:r>
            <a:r>
              <a:rPr lang="en-US" sz="1900" dirty="0">
                <a:solidFill>
                  <a:schemeClr val="bg1"/>
                </a:solidFill>
              </a:rPr>
              <a:t>: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Applied </a:t>
            </a:r>
            <a:r>
              <a:rPr lang="en-US" sz="1900" b="1" dirty="0" err="1">
                <a:solidFill>
                  <a:schemeClr val="bg1"/>
                </a:solidFill>
              </a:rPr>
              <a:t>KMeans</a:t>
            </a:r>
            <a:r>
              <a:rPr lang="en-US" sz="1900" b="1" dirty="0">
                <a:solidFill>
                  <a:schemeClr val="bg1"/>
                </a:solidFill>
              </a:rPr>
              <a:t> Clustering</a:t>
            </a:r>
            <a:r>
              <a:rPr lang="en-US" sz="1900" dirty="0">
                <a:solidFill>
                  <a:schemeClr val="bg1"/>
                </a:solidFill>
              </a:rPr>
              <a:t> to the preprocessed numerical data (e.g., price, rating, reviews).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Optimal number of clusters selected using </a:t>
            </a:r>
            <a:r>
              <a:rPr lang="en-US" sz="1900" b="1" dirty="0">
                <a:solidFill>
                  <a:schemeClr val="bg1"/>
                </a:solidFill>
              </a:rPr>
              <a:t>Elbow Method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Created new label: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Cluster 0</a:t>
            </a:r>
            <a:r>
              <a:rPr lang="en-US" sz="1900" dirty="0">
                <a:solidFill>
                  <a:schemeClr val="bg1"/>
                </a:solidFill>
              </a:rPr>
              <a:t> → Mid Range products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Cluster 1</a:t>
            </a:r>
            <a:r>
              <a:rPr lang="en-US" sz="1900" dirty="0">
                <a:solidFill>
                  <a:schemeClr val="bg1"/>
                </a:solidFill>
              </a:rPr>
              <a:t> → Upper Mid-range products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Cluster 2</a:t>
            </a:r>
            <a:r>
              <a:rPr lang="en-US" sz="1900" dirty="0">
                <a:solidFill>
                  <a:schemeClr val="bg1"/>
                </a:solidFill>
              </a:rPr>
              <a:t> → Budget products</a:t>
            </a:r>
          </a:p>
          <a:p>
            <a:pPr marL="74295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bg1"/>
                </a:solidFill>
              </a:rPr>
              <a:t>Cluster 3 → </a:t>
            </a:r>
            <a:r>
              <a:rPr lang="en-US" sz="1900" dirty="0">
                <a:solidFill>
                  <a:schemeClr val="bg1"/>
                </a:solidFill>
              </a:rPr>
              <a:t>Premium Products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60A2A-7611-A5EB-13E6-67B6A02E4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533" y="4067131"/>
            <a:ext cx="3700724" cy="263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7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7E2D0-F902-879A-8F56-2B1B684462B6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Models Used 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F0A3A8-A1EF-C35C-AC73-7390337EF938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Trained multiple classifiers: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Logistic Regression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 Vector Machine (SVM)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k-Nearest Neighbors (k-NN)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Random Forest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XGBoost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Used </a:t>
            </a:r>
            <a:r>
              <a:rPr lang="en-US" sz="2000" b="1" dirty="0">
                <a:solidFill>
                  <a:schemeClr val="bg1"/>
                </a:solidFill>
              </a:rPr>
              <a:t>5-fold Cross-Validation</a:t>
            </a:r>
            <a:r>
              <a:rPr lang="en-US" sz="2000" dirty="0">
                <a:solidFill>
                  <a:schemeClr val="bg1"/>
                </a:solidFill>
              </a:rPr>
              <a:t> to measure F1 Macro Score.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5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D8079-4961-5327-13D5-8E7DDDD33A75}"/>
              </a:ext>
            </a:extLst>
          </p:cNvPr>
          <p:cNvSpPr txBox="1"/>
          <p:nvPr/>
        </p:nvSpPr>
        <p:spPr>
          <a:xfrm>
            <a:off x="-227203" y="1208634"/>
            <a:ext cx="6225330" cy="7868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4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Hyperparameter Tuning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3442B-11AA-7064-892D-9A2D915EB962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Performed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GridSearchCV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for best model (Random Forest):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n_estimators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[100, 200, 300]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max_depth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[5, 10, </a:t>
            </a:r>
            <a:r>
              <a:rPr lang="en-US" altLang="en-US" sz="2000" dirty="0">
                <a:solidFill>
                  <a:schemeClr val="bg1"/>
                </a:solidFill>
              </a:rPr>
              <a:t>15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]</a:t>
            </a:r>
          </a:p>
          <a:p>
            <a:pPr marL="800100" marR="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min_samples_split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[2, 5]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Tuned model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perfect F1 Score on test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1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2CAC6F-FA1E-A056-083E-7E9DF5A7F60B}"/>
              </a:ext>
            </a:extLst>
          </p:cNvPr>
          <p:cNvSpPr txBox="1"/>
          <p:nvPr/>
        </p:nvSpPr>
        <p:spPr>
          <a:xfrm>
            <a:off x="-729035" y="-133668"/>
            <a:ext cx="10310127" cy="104286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Performance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C7E8C3-4DA4-9F7B-B67C-FA5C4F74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33266"/>
              </p:ext>
            </p:extLst>
          </p:nvPr>
        </p:nvGraphicFramePr>
        <p:xfrm>
          <a:off x="642900" y="1146816"/>
          <a:ext cx="10633781" cy="4517604"/>
        </p:xfrm>
        <a:graphic>
          <a:graphicData uri="http://schemas.openxmlformats.org/drawingml/2006/table">
            <a:tbl>
              <a:tblPr firstRow="1" bandRow="1"/>
              <a:tblGrid>
                <a:gridCol w="2507925">
                  <a:extLst>
                    <a:ext uri="{9D8B030D-6E8A-4147-A177-3AD203B41FA5}">
                      <a16:colId xmlns:a16="http://schemas.microsoft.com/office/drawing/2014/main" val="2183113871"/>
                    </a:ext>
                  </a:extLst>
                </a:gridCol>
                <a:gridCol w="2139751">
                  <a:extLst>
                    <a:ext uri="{9D8B030D-6E8A-4147-A177-3AD203B41FA5}">
                      <a16:colId xmlns:a16="http://schemas.microsoft.com/office/drawing/2014/main" val="595938304"/>
                    </a:ext>
                  </a:extLst>
                </a:gridCol>
                <a:gridCol w="1988149">
                  <a:extLst>
                    <a:ext uri="{9D8B030D-6E8A-4147-A177-3AD203B41FA5}">
                      <a16:colId xmlns:a16="http://schemas.microsoft.com/office/drawing/2014/main" val="3030213162"/>
                    </a:ext>
                  </a:extLst>
                </a:gridCol>
                <a:gridCol w="2139751">
                  <a:extLst>
                    <a:ext uri="{9D8B030D-6E8A-4147-A177-3AD203B41FA5}">
                      <a16:colId xmlns:a16="http://schemas.microsoft.com/office/drawing/2014/main" val="3647382280"/>
                    </a:ext>
                  </a:extLst>
                </a:gridCol>
                <a:gridCol w="1858205">
                  <a:extLst>
                    <a:ext uri="{9D8B030D-6E8A-4147-A177-3AD203B41FA5}">
                      <a16:colId xmlns:a16="http://schemas.microsoft.com/office/drawing/2014/main" val="1161737377"/>
                    </a:ext>
                  </a:extLst>
                </a:gridCol>
              </a:tblGrid>
              <a:tr h="95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Train Accuracy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Train F1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Test Accuracy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Test F1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42355"/>
                  </a:ext>
                </a:extLst>
              </a:tr>
              <a:tr h="95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Logistic Regression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0.9929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0.9929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0.9916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0.9789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814845"/>
                  </a:ext>
                </a:extLst>
              </a:tr>
              <a:tr h="54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SVM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0.9929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0.9929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0.9916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0.9895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54136"/>
                  </a:ext>
                </a:extLst>
              </a:tr>
              <a:tr h="54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k-NN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0.9976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0.9976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0.9916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0.9895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777088"/>
                  </a:ext>
                </a:extLst>
              </a:tr>
              <a:tr h="958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682509"/>
                  </a:ext>
                </a:extLst>
              </a:tr>
              <a:tr h="54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XGBoost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1.0000</a:t>
                      </a:r>
                    </a:p>
                  </a:txBody>
                  <a:tcPr marL="158169" marR="158169" marT="79085" marB="7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143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16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DF9AA-C7A9-F421-6F3A-FCFA0314AEFD}"/>
              </a:ext>
            </a:extLst>
          </p:cNvPr>
          <p:cNvSpPr txBox="1"/>
          <p:nvPr/>
        </p:nvSpPr>
        <p:spPr>
          <a:xfrm>
            <a:off x="838200" y="669925"/>
            <a:ext cx="450894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Insights :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597E76-5B25-DEB8-7E29-37A2428F34BC}"/>
              </a:ext>
            </a:extLst>
          </p:cNvPr>
          <p:cNvSpPr txBox="1"/>
          <p:nvPr/>
        </p:nvSpPr>
        <p:spPr>
          <a:xfrm>
            <a:off x="1392667" y="2248251"/>
            <a:ext cx="9406666" cy="42951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Most Mobiles Have High Ratings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74295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Majority of products have ratings between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4.0 and 4.5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indicating strong customer satisfaction.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Mobile Prices Are Right-Skewed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74295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Most products are priced below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₹20,000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but a few high-end models go up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₹1.3 lakhs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causing a skew.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Realme, Samsung, and Vivo Dominate the Market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74295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These brands account for the highest number of listings, suggesting popularity and wide offerings.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Ratings and Reviews Are Weakly Correlated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74295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Scatter plot analysis shows no strong linear relationship between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number of reviews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ratings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Forest Performed Best After Tuning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742950" lvl="1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Among all classification models,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tuned Random Forest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model gave the highest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F1 Macro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indicating better performance in handling imbalanced class predictions.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3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345A3-1581-59B7-5932-FDC1D99D44B6}"/>
              </a:ext>
            </a:extLst>
          </p:cNvPr>
          <p:cNvSpPr txBox="1"/>
          <p:nvPr/>
        </p:nvSpPr>
        <p:spPr>
          <a:xfrm>
            <a:off x="555970" y="613191"/>
            <a:ext cx="11080059" cy="58953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Conclusion: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Successfully scraped and analyzed mobile product data from </a:t>
            </a:r>
            <a:r>
              <a:rPr lang="en-US" altLang="en-US" dirty="0">
                <a:solidFill>
                  <a:schemeClr val="bg1"/>
                </a:solidFill>
              </a:rPr>
              <a:t>Flipkart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Performed extensive EDA to understand price, rating, and brand distribution.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Built multiple classification models;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Random Forest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showed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perfect F1 scores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on test data.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Derived business insights that can guide inventory, marketing, and pricing strategies.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Future Work: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Extend scraping to other platforms like </a:t>
            </a:r>
            <a:r>
              <a:rPr lang="en-US" altLang="en-US" dirty="0">
                <a:solidFill>
                  <a:schemeClr val="bg1"/>
                </a:solidFill>
              </a:rPr>
              <a:t>Amazon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or Reliance Digital for broader insights.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Include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text review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(sentiment analysis) for deeper customer opinion mining.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Add features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screen size, battery life, camera specs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etc., for richer modeling.</a:t>
            </a:r>
          </a:p>
          <a:p>
            <a:pPr marL="34290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Deploy model into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web-based tool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assist customers in product recommendation.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626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65AEF-991B-E686-AA7A-9EC9355D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1D0DF15-8560-C224-4481-0F053AB07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C39E9C-CB19-5D85-E892-B22CC0F2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B21DB-93A4-69A9-8D64-50B1D6DC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E19E9-649E-4DF0-32F6-33BB24599F4B}"/>
              </a:ext>
            </a:extLst>
          </p:cNvPr>
          <p:cNvSpPr txBox="1"/>
          <p:nvPr/>
        </p:nvSpPr>
        <p:spPr>
          <a:xfrm>
            <a:off x="3998549" y="2993133"/>
            <a:ext cx="4194902" cy="87173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642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653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Sanjaikumar S</dc:creator>
  <cp:lastModifiedBy>Sanjaikumar S</cp:lastModifiedBy>
  <cp:revision>7</cp:revision>
  <dcterms:created xsi:type="dcterms:W3CDTF">2025-07-21T05:28:06Z</dcterms:created>
  <dcterms:modified xsi:type="dcterms:W3CDTF">2025-07-24T05:36:14Z</dcterms:modified>
</cp:coreProperties>
</file>
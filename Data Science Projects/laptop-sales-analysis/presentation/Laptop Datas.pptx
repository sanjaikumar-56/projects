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70" r:id="rId3"/>
    <p:sldId id="271" r:id="rId4"/>
    <p:sldId id="258" r:id="rId5"/>
    <p:sldId id="259" r:id="rId6"/>
    <p:sldId id="261" r:id="rId7"/>
    <p:sldId id="262" r:id="rId8"/>
    <p:sldId id="263" r:id="rId9"/>
    <p:sldId id="264" r:id="rId10"/>
    <p:sldId id="265" r:id="rId11"/>
    <p:sldId id="266" r:id="rId12"/>
    <p:sldId id="267" r:id="rId13"/>
    <p:sldId id="272" r:id="rId14"/>
    <p:sldId id="273" r:id="rId15"/>
    <p:sldId id="269"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14"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803163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2049096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814506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D78201-2053-4A1F-A1D4-01881182143A}"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3715516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D78201-2053-4A1F-A1D4-01881182143A}" type="datetimeFigureOut">
              <a:rPr lang="en-IN" smtClean="0"/>
              <a:t>11-06-2025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956743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41765580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4171156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38857977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D78201-2053-4A1F-A1D4-01881182143A}"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4013456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D78201-2053-4A1F-A1D4-01881182143A}" type="datetimeFigureOut">
              <a:rPr lang="en-IN" smtClean="0"/>
              <a:t>11-06-2025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13917631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42790221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6765158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27537245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274569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378331577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391447363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D78201-2053-4A1F-A1D4-01881182143A}" type="datetimeFigureOut">
              <a:rPr lang="en-IN" smtClean="0"/>
              <a:t>11-06-2025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0B7B8FF-B8C4-4D13-93A5-7C13833102CB}" type="slidenum">
              <a:rPr lang="en-IN" smtClean="0"/>
              <a:t>‹#›</a:t>
            </a:fld>
            <a:endParaRPr lang="en-IN"/>
          </a:p>
        </p:txBody>
      </p:sp>
    </p:spTree>
    <p:extLst>
      <p:ext uri="{BB962C8B-B14F-4D97-AF65-F5344CB8AC3E}">
        <p14:creationId xmlns:p14="http://schemas.microsoft.com/office/powerpoint/2010/main" val="35304483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39D78201-2053-4A1F-A1D4-01881182143A}" type="datetimeFigureOut">
              <a:rPr lang="en-IN" smtClean="0"/>
              <a:t>11-06-2025</a:t>
            </a:fld>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10B7B8FF-B8C4-4D13-93A5-7C13833102CB}" type="slidenum">
              <a:rPr lang="en-IN" smtClean="0"/>
              <a:t>‹#›</a:t>
            </a:fld>
            <a:endParaRPr lang="en-IN"/>
          </a:p>
        </p:txBody>
      </p:sp>
    </p:spTree>
    <p:extLst>
      <p:ext uri="{BB962C8B-B14F-4D97-AF65-F5344CB8AC3E}">
        <p14:creationId xmlns:p14="http://schemas.microsoft.com/office/powerpoint/2010/main" val="3813311469"/>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1FED8D7-ACA2-8AE1-6B55-D3579DD1141B}"/>
              </a:ext>
            </a:extLst>
          </p:cNvPr>
          <p:cNvSpPr txBox="1"/>
          <p:nvPr/>
        </p:nvSpPr>
        <p:spPr>
          <a:xfrm>
            <a:off x="3170687" y="1674674"/>
            <a:ext cx="8026400" cy="1877437"/>
          </a:xfrm>
          <a:prstGeom prst="rect">
            <a:avLst/>
          </a:prstGeom>
          <a:noFill/>
        </p:spPr>
        <p:txBody>
          <a:bodyPr wrap="square">
            <a:spAutoFit/>
          </a:bodyPr>
          <a:lstStyle/>
          <a:p>
            <a:r>
              <a:rPr lang="en-US" b="1" dirty="0"/>
              <a:t>Python Reinforcement </a:t>
            </a:r>
          </a:p>
          <a:p>
            <a:endParaRPr lang="en-US" b="1" dirty="0"/>
          </a:p>
          <a:p>
            <a:r>
              <a:rPr lang="en-US" sz="4400" b="1" dirty="0"/>
              <a:t> Laptop Dataset</a:t>
            </a:r>
            <a:br>
              <a:rPr lang="en-US" sz="3600" dirty="0"/>
            </a:br>
            <a:endParaRPr lang="en-IN" sz="3600" dirty="0"/>
          </a:p>
        </p:txBody>
      </p:sp>
      <p:sp>
        <p:nvSpPr>
          <p:cNvPr id="4" name="TextBox 3">
            <a:extLst>
              <a:ext uri="{FF2B5EF4-FFF2-40B4-BE49-F238E27FC236}">
                <a16:creationId xmlns:a16="http://schemas.microsoft.com/office/drawing/2014/main" id="{485AD0D4-874F-1F6C-F95E-F308AADB30A9}"/>
              </a:ext>
            </a:extLst>
          </p:cNvPr>
          <p:cNvSpPr txBox="1"/>
          <p:nvPr/>
        </p:nvSpPr>
        <p:spPr>
          <a:xfrm>
            <a:off x="8914224" y="4444662"/>
            <a:ext cx="2743200" cy="1477328"/>
          </a:xfrm>
          <a:prstGeom prst="rect">
            <a:avLst/>
          </a:prstGeom>
          <a:noFill/>
        </p:spPr>
        <p:txBody>
          <a:bodyPr wrap="square" rtlCol="0">
            <a:spAutoFit/>
          </a:bodyPr>
          <a:lstStyle/>
          <a:p>
            <a:r>
              <a:rPr lang="en-US" dirty="0" err="1"/>
              <a:t>S.Sanjaikumar</a:t>
            </a:r>
            <a:endParaRPr lang="en-US" dirty="0"/>
          </a:p>
          <a:p>
            <a:endParaRPr lang="en-US" dirty="0"/>
          </a:p>
          <a:p>
            <a:r>
              <a:rPr lang="en-US" dirty="0"/>
              <a:t>Feb DA&amp;DS</a:t>
            </a:r>
          </a:p>
          <a:p>
            <a:r>
              <a:rPr lang="en-US" dirty="0"/>
              <a:t> </a:t>
            </a:r>
          </a:p>
          <a:p>
            <a:r>
              <a:rPr lang="en-US" dirty="0"/>
              <a:t>DATE-  11-06-25</a:t>
            </a:r>
            <a:endParaRPr lang="en-IN" dirty="0"/>
          </a:p>
        </p:txBody>
      </p:sp>
    </p:spTree>
    <p:extLst>
      <p:ext uri="{BB962C8B-B14F-4D97-AF65-F5344CB8AC3E}">
        <p14:creationId xmlns:p14="http://schemas.microsoft.com/office/powerpoint/2010/main" val="37408438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796EC3-79B3-8BDB-7539-9180BF8977B5}"/>
              </a:ext>
            </a:extLst>
          </p:cNvPr>
          <p:cNvSpPr txBox="1"/>
          <p:nvPr/>
        </p:nvSpPr>
        <p:spPr>
          <a:xfrm>
            <a:off x="837284" y="1185130"/>
            <a:ext cx="11767128" cy="5441170"/>
          </a:xfrm>
          <a:prstGeom prst="rect">
            <a:avLst/>
          </a:prstGeom>
          <a:noFill/>
        </p:spPr>
        <p:txBody>
          <a:bodyPr wrap="square" rtlCol="0">
            <a:spAutoFit/>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involves Exploratory Data Analysis (EDA) on a laptop dataset with 1303 entries and</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12 attributes, including brand, type, screen size, CPU, RAM, GPU, operating system, and price.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dataset contains both categorical and numerical features, enabling comprehensive statistical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and visual analysis. The goal is to uncover patterns in laptop specifications and understand their </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influence on pricing.</a:t>
            </a:r>
          </a:p>
          <a:p>
            <a:pPr marL="0" marR="0" lvl="0" indent="0" algn="just" defTabSz="914400" rtl="0" eaLnBrk="0" fontAlgn="base" latinLnBrk="0" hangingPunct="0">
              <a:lnSpc>
                <a:spcPct val="150000"/>
              </a:lnSpc>
              <a:spcBef>
                <a:spcPct val="0"/>
              </a:spcBef>
              <a:spcAft>
                <a:spcPct val="0"/>
              </a:spcAft>
              <a:buClrTx/>
              <a:buSzTx/>
              <a:buFontTx/>
              <a:buNone/>
              <a:tabLst/>
            </a:pPr>
            <a:endParaRPr lang="en-US" altLang="en-US" dirty="0">
              <a:latin typeface="Times New Roman" panose="02020603050405020304" pitchFamily="18" charset="0"/>
              <a:cs typeface="Times New Roman" panose="02020603050405020304" pitchFamily="18" charset="0"/>
            </a:endParaRP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Conduct an exploratory data analysis on laptop specs and prices to uncover </a:t>
            </a:r>
          </a:p>
          <a:p>
            <a:pPr lvl="0" eaLnBrk="0" fontAlgn="base" hangingPunct="0">
              <a:lnSpc>
                <a:spcPct val="150000"/>
              </a:lnSpc>
              <a:spcBef>
                <a:spcPct val="0"/>
              </a:spcBef>
              <a:spcAft>
                <a:spcPct val="0"/>
              </a:spcAft>
              <a:buClrTx/>
            </a:pPr>
            <a:r>
              <a:rPr lang="en-US" altLang="en-US" dirty="0">
                <a:latin typeface="Times New Roman" panose="02020603050405020304" pitchFamily="18" charset="0"/>
                <a:cs typeface="Times New Roman" panose="02020603050405020304" pitchFamily="18" charset="0"/>
              </a:rPr>
              <a:t>     key factors that drive pricing.</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Clean and preprocess the dataset for reliable statistical insights, examining</a:t>
            </a:r>
          </a:p>
          <a:p>
            <a:pPr lvl="0" eaLnBrk="0" fontAlgn="base" hangingPunct="0">
              <a:lnSpc>
                <a:spcPct val="150000"/>
              </a:lnSpc>
              <a:spcBef>
                <a:spcPct val="0"/>
              </a:spcBef>
              <a:spcAft>
                <a:spcPct val="0"/>
              </a:spcAft>
              <a:buClrTx/>
            </a:pPr>
            <a:r>
              <a:rPr lang="en-US" altLang="en-US" dirty="0">
                <a:latin typeface="Times New Roman" panose="02020603050405020304" pitchFamily="18" charset="0"/>
                <a:cs typeface="Times New Roman" panose="02020603050405020304" pitchFamily="18" charset="0"/>
              </a:rPr>
              <a:t>     features like brand, CPU, RAM, GPU, and more.</a:t>
            </a:r>
          </a:p>
          <a:p>
            <a:pPr marL="285750" lvl="0" indent="-285750" eaLnBrk="0" fontAlgn="base" hangingPunct="0">
              <a:lnSpc>
                <a:spcPct val="150000"/>
              </a:lnSpc>
              <a:spcBef>
                <a:spcPct val="0"/>
              </a:spcBef>
              <a:spcAft>
                <a:spcPct val="0"/>
              </a:spcAft>
              <a:buClrTx/>
              <a:buFont typeface="Arial" panose="020B0604020202020204" pitchFamily="34" charset="0"/>
              <a:buChar char="•"/>
            </a:pPr>
            <a:r>
              <a:rPr lang="en-US" altLang="en-US" dirty="0">
                <a:latin typeface="Times New Roman" panose="02020603050405020304" pitchFamily="18" charset="0"/>
                <a:cs typeface="Times New Roman" panose="02020603050405020304" pitchFamily="18" charset="0"/>
              </a:rPr>
              <a:t>Deliver actionable insights to guide consumers toward cost-effective choices </a:t>
            </a:r>
          </a:p>
          <a:p>
            <a:pPr lvl="0" eaLnBrk="0" fontAlgn="base" hangingPunct="0">
              <a:lnSpc>
                <a:spcPct val="150000"/>
              </a:lnSpc>
              <a:spcBef>
                <a:spcPct val="0"/>
              </a:spcBef>
              <a:spcAft>
                <a:spcPct val="0"/>
              </a:spcAft>
              <a:buClrTx/>
            </a:pPr>
            <a:r>
              <a:rPr lang="en-US" altLang="en-US" dirty="0">
                <a:latin typeface="Times New Roman" panose="02020603050405020304" pitchFamily="18" charset="0"/>
                <a:cs typeface="Times New Roman" panose="02020603050405020304" pitchFamily="18" charset="0"/>
              </a:rPr>
              <a:t>     and help businesses tailor their offerings to market demands.</a:t>
            </a:r>
          </a:p>
          <a:p>
            <a:pPr>
              <a:lnSpc>
                <a:spcPct val="150000"/>
              </a:lnSpc>
            </a:pPr>
            <a:endParaRPr lang="en-IN" dirty="0"/>
          </a:p>
        </p:txBody>
      </p:sp>
      <p:sp>
        <p:nvSpPr>
          <p:cNvPr id="4" name="TextBox 3">
            <a:extLst>
              <a:ext uri="{FF2B5EF4-FFF2-40B4-BE49-F238E27FC236}">
                <a16:creationId xmlns:a16="http://schemas.microsoft.com/office/drawing/2014/main" id="{3C172FA6-142F-DA45-9452-DC9B1F43561A}"/>
              </a:ext>
            </a:extLst>
          </p:cNvPr>
          <p:cNvSpPr txBox="1"/>
          <p:nvPr/>
        </p:nvSpPr>
        <p:spPr>
          <a:xfrm>
            <a:off x="267855" y="387927"/>
            <a:ext cx="7259781" cy="584775"/>
          </a:xfrm>
          <a:prstGeom prst="rect">
            <a:avLst/>
          </a:prstGeom>
          <a:noFill/>
        </p:spPr>
        <p:txBody>
          <a:bodyPr wrap="square" rtlCol="0">
            <a:spAutoFit/>
          </a:bodyPr>
          <a:lstStyle/>
          <a:p>
            <a:r>
              <a:rPr lang="en-US" sz="3200" dirty="0"/>
              <a:t>INTRODUCTION</a:t>
            </a:r>
            <a:endParaRPr lang="en-IN" sz="3200" dirty="0"/>
          </a:p>
        </p:txBody>
      </p:sp>
    </p:spTree>
    <p:extLst>
      <p:ext uri="{BB962C8B-B14F-4D97-AF65-F5344CB8AC3E}">
        <p14:creationId xmlns:p14="http://schemas.microsoft.com/office/powerpoint/2010/main" val="889261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40656CD-25F1-588B-690D-821F374B99BC}"/>
              </a:ext>
            </a:extLst>
          </p:cNvPr>
          <p:cNvSpPr txBox="1"/>
          <p:nvPr/>
        </p:nvSpPr>
        <p:spPr>
          <a:xfrm>
            <a:off x="1149057" y="1606952"/>
            <a:ext cx="9409676" cy="2948179"/>
          </a:xfrm>
          <a:prstGeom prst="rect">
            <a:avLst/>
          </a:prstGeom>
          <a:noFill/>
        </p:spPr>
        <p:txBody>
          <a:bodyPr wrap="square" rtlCol="0">
            <a:spAutoFit/>
          </a:bodyPr>
          <a:lstStyle/>
          <a:p>
            <a:pPr algn="just">
              <a:lnSpc>
                <a:spcPct val="150000"/>
              </a:lnSpc>
            </a:pPr>
            <a:r>
              <a:rPr lang="en-US" dirty="0"/>
              <a:t>Data understanding is a vital step in data analysis that examines the dataset’s structure, quality, and key features—such as categorical, numerical, and mixed types—to guide further analysis. It involves identifying missing values, inconsistencies, and outliers, as well as exploring relationships between variables to inform hypothesis and feature engineering. This foundational insight ensures effective data cleaning, transformation, and meaningful analysis outcomes</a:t>
            </a:r>
            <a:endParaRPr lang="en-IN" dirty="0"/>
          </a:p>
          <a:p>
            <a:pPr algn="just">
              <a:lnSpc>
                <a:spcPct val="150000"/>
              </a:lnSpc>
            </a:pPr>
            <a:endParaRPr lang="en-IN" dirty="0"/>
          </a:p>
        </p:txBody>
      </p:sp>
      <p:sp>
        <p:nvSpPr>
          <p:cNvPr id="3" name="TextBox 2">
            <a:extLst>
              <a:ext uri="{FF2B5EF4-FFF2-40B4-BE49-F238E27FC236}">
                <a16:creationId xmlns:a16="http://schemas.microsoft.com/office/drawing/2014/main" id="{12189EFC-442A-40F9-42E4-FF96B38145D3}"/>
              </a:ext>
            </a:extLst>
          </p:cNvPr>
          <p:cNvSpPr txBox="1"/>
          <p:nvPr/>
        </p:nvSpPr>
        <p:spPr>
          <a:xfrm>
            <a:off x="157019" y="341745"/>
            <a:ext cx="5938982" cy="584775"/>
          </a:xfrm>
          <a:prstGeom prst="rect">
            <a:avLst/>
          </a:prstGeom>
          <a:noFill/>
        </p:spPr>
        <p:txBody>
          <a:bodyPr wrap="square" rtlCol="0">
            <a:spAutoFit/>
          </a:bodyPr>
          <a:lstStyle/>
          <a:p>
            <a:r>
              <a:rPr lang="en-IN" sz="3200" dirty="0"/>
              <a:t>DATA UNDERSTANDING</a:t>
            </a:r>
          </a:p>
        </p:txBody>
      </p:sp>
    </p:spTree>
    <p:extLst>
      <p:ext uri="{BB962C8B-B14F-4D97-AF65-F5344CB8AC3E}">
        <p14:creationId xmlns:p14="http://schemas.microsoft.com/office/powerpoint/2010/main" val="26418599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E25037-4E8C-2D6C-009D-6F5338CD3389}"/>
              </a:ext>
            </a:extLst>
          </p:cNvPr>
          <p:cNvSpPr>
            <a:spLocks noChangeArrowheads="1"/>
          </p:cNvSpPr>
          <p:nvPr/>
        </p:nvSpPr>
        <p:spPr bwMode="auto">
          <a:xfrm>
            <a:off x="1268955" y="711450"/>
            <a:ext cx="5560291" cy="52937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0" u="none" strike="noStrike" cap="none" normalizeH="0" baseline="0" dirty="0">
                <a:ln>
                  <a:noFill/>
                </a:ln>
                <a:solidFill>
                  <a:schemeClr val="tx1"/>
                </a:solidFill>
                <a:effectLst/>
                <a:cs typeface="Times New Roman" panose="02020603050405020304" pitchFamily="18" charset="0"/>
              </a:rPr>
              <a:t>Dataset Overview</a:t>
            </a:r>
            <a:endParaRPr kumimoji="0" lang="en-US" altLang="en-US" sz="3200" b="0" i="0" u="none" strike="noStrike" cap="none" normalizeH="0" baseline="0" dirty="0">
              <a:ln>
                <a:noFill/>
              </a:ln>
              <a:solidFill>
                <a:schemeClr val="tx1"/>
              </a:solidFill>
              <a:effectLst/>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cs typeface="Times New Roman" panose="02020603050405020304" pitchFamily="18" charset="0"/>
            </a:endParaRP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b="0" i="0" u="none" strike="noStrike" cap="none" normalizeH="0" baseline="0" dirty="0">
              <a:ln>
                <a:noFill/>
              </a:ln>
              <a:solidFill>
                <a:schemeClr val="tx1"/>
              </a:solidFill>
              <a:effectLst/>
              <a:cs typeface="Times New Roman" panose="02020603050405020304" pitchFamily="18" charset="0"/>
            </a:endParaRP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lang="en-US" altLang="en-US" sz="2400" dirty="0">
                <a:cs typeface="Times New Roman" panose="02020603050405020304" pitchFamily="18" charset="0"/>
              </a:rPr>
              <a:t> </a:t>
            </a:r>
            <a:r>
              <a:rPr lang="en-US" altLang="en-US" dirty="0">
                <a:cs typeface="Times New Roman" panose="02020603050405020304" pitchFamily="18" charset="0"/>
              </a:rPr>
              <a:t>Unnamed: 0</a:t>
            </a:r>
            <a:endParaRPr kumimoji="0" lang="en-US" altLang="en-US" b="0" i="0" u="none" strike="noStrike" cap="none" normalizeH="0" baseline="0" dirty="0">
              <a:ln>
                <a:noFill/>
              </a:ln>
              <a:solidFill>
                <a:schemeClr val="tx1"/>
              </a:solidFill>
              <a:effectLst/>
              <a:cs typeface="Times New Roman" panose="02020603050405020304" pitchFamily="18" charset="0"/>
            </a:endParaRPr>
          </a:p>
          <a:p>
            <a:pPr marL="800100" lvl="1" indent="-342900" eaLnBrk="0" fontAlgn="base" hangingPunct="0">
              <a:lnSpc>
                <a:spcPct val="150000"/>
              </a:lnSpc>
              <a:spcBef>
                <a:spcPct val="0"/>
              </a:spcBef>
              <a:spcAft>
                <a:spcPct val="0"/>
              </a:spcAft>
              <a:buFont typeface="Arial" panose="020B0604020202020204" pitchFamily="34" charset="0"/>
              <a:buChar char="•"/>
            </a:pPr>
            <a:r>
              <a:rPr kumimoji="0" lang="en-US" altLang="en-US" b="0" i="0" u="none" strike="noStrike" cap="none" normalizeH="0" baseline="0" dirty="0">
                <a:ln>
                  <a:noFill/>
                </a:ln>
                <a:solidFill>
                  <a:schemeClr val="tx1"/>
                </a:solidFill>
                <a:effectLst/>
                <a:cs typeface="Times New Roman" panose="02020603050405020304" pitchFamily="18" charset="0"/>
              </a:rPr>
              <a:t> Company</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TypeName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Screen Size (Inches)</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Weight</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RAM</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Storage</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Operating System</a:t>
            </a:r>
          </a:p>
          <a:p>
            <a:pPr marL="800100" marR="0" lvl="1" indent="-34290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b="0" i="0" u="none" strike="noStrike" cap="none" normalizeH="0" baseline="0" dirty="0">
                <a:ln>
                  <a:noFill/>
                </a:ln>
                <a:solidFill>
                  <a:schemeClr val="tx1"/>
                </a:solidFill>
                <a:effectLst/>
                <a:cs typeface="Times New Roman" panose="02020603050405020304" pitchFamily="18" charset="0"/>
              </a:rPr>
              <a:t>Price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b="0" i="0" u="none" strike="noStrike" cap="none" normalizeH="0" baseline="0" dirty="0">
              <a:ln>
                <a:noFill/>
              </a:ln>
              <a:solidFill>
                <a:schemeClr val="tx1"/>
              </a:solidFill>
              <a:effectLst/>
              <a:cs typeface="Times New Roman" panose="02020603050405020304" pitchFamily="18" charset="0"/>
            </a:endParaRPr>
          </a:p>
        </p:txBody>
      </p:sp>
    </p:spTree>
    <p:extLst>
      <p:ext uri="{BB962C8B-B14F-4D97-AF65-F5344CB8AC3E}">
        <p14:creationId xmlns:p14="http://schemas.microsoft.com/office/powerpoint/2010/main" val="344405381"/>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5D7DE40-6A8D-ECA5-2212-8462E9231C75}"/>
              </a:ext>
            </a:extLst>
          </p:cNvPr>
          <p:cNvSpPr txBox="1"/>
          <p:nvPr/>
        </p:nvSpPr>
        <p:spPr>
          <a:xfrm>
            <a:off x="2390475" y="1871000"/>
            <a:ext cx="8737600" cy="2308324"/>
          </a:xfrm>
          <a:prstGeom prst="rect">
            <a:avLst/>
          </a:prstGeom>
          <a:noFill/>
        </p:spPr>
        <p:txBody>
          <a:bodyPr wrap="square">
            <a:spAutoFit/>
          </a:bodyPr>
          <a:lstStyle/>
          <a:p>
            <a:pPr marL="342900" indent="-342900">
              <a:buFont typeface="Arial" panose="020B0604020202020204" pitchFamily="34" charset="0"/>
              <a:buChar char="•"/>
            </a:pPr>
            <a:endParaRPr lang="en-US" b="1" dirty="0"/>
          </a:p>
          <a:p>
            <a:pPr marL="342900" indent="-342900">
              <a:buFont typeface="Arial" panose="020B0604020202020204" pitchFamily="34" charset="0"/>
              <a:buChar char="•"/>
            </a:pPr>
            <a:r>
              <a:rPr lang="en-US" dirty="0"/>
              <a:t>Null values checked and handled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Column names standardized</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RAM cleaned (numeric GB)</a:t>
            </a:r>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r>
              <a:rPr lang="en-US" dirty="0"/>
              <a:t>Weight cleaned (numeric kg)</a:t>
            </a:r>
          </a:p>
        </p:txBody>
      </p:sp>
      <p:sp>
        <p:nvSpPr>
          <p:cNvPr id="2" name="TextBox 1">
            <a:extLst>
              <a:ext uri="{FF2B5EF4-FFF2-40B4-BE49-F238E27FC236}">
                <a16:creationId xmlns:a16="http://schemas.microsoft.com/office/drawing/2014/main" id="{73AEC6E3-A905-406F-DE8F-50DE54E9D4DA}"/>
              </a:ext>
            </a:extLst>
          </p:cNvPr>
          <p:cNvSpPr txBox="1"/>
          <p:nvPr/>
        </p:nvSpPr>
        <p:spPr>
          <a:xfrm>
            <a:off x="1095555" y="621102"/>
            <a:ext cx="3416060" cy="584775"/>
          </a:xfrm>
          <a:prstGeom prst="rect">
            <a:avLst/>
          </a:prstGeom>
          <a:noFill/>
        </p:spPr>
        <p:txBody>
          <a:bodyPr wrap="square" rtlCol="0">
            <a:spAutoFit/>
          </a:bodyPr>
          <a:lstStyle/>
          <a:p>
            <a:r>
              <a:rPr lang="en-US" sz="3200" b="1" dirty="0"/>
              <a:t>Data Cleaning</a:t>
            </a:r>
          </a:p>
        </p:txBody>
      </p:sp>
    </p:spTree>
    <p:extLst>
      <p:ext uri="{BB962C8B-B14F-4D97-AF65-F5344CB8AC3E}">
        <p14:creationId xmlns:p14="http://schemas.microsoft.com/office/powerpoint/2010/main" val="25043281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1D18BD-C646-D976-6A8F-557E761F18CD}"/>
              </a:ext>
            </a:extLst>
          </p:cNvPr>
          <p:cNvSpPr txBox="1"/>
          <p:nvPr/>
        </p:nvSpPr>
        <p:spPr>
          <a:xfrm>
            <a:off x="461296" y="598708"/>
            <a:ext cx="8820727" cy="584775"/>
          </a:xfrm>
          <a:prstGeom prst="rect">
            <a:avLst/>
          </a:prstGeom>
          <a:noFill/>
        </p:spPr>
        <p:txBody>
          <a:bodyPr wrap="square">
            <a:spAutoFit/>
          </a:bodyPr>
          <a:lstStyle/>
          <a:p>
            <a:r>
              <a:rPr lang="en-US" sz="3200" b="1" dirty="0"/>
              <a:t>Exploratory Data Analysis</a:t>
            </a:r>
          </a:p>
        </p:txBody>
      </p:sp>
      <p:sp>
        <p:nvSpPr>
          <p:cNvPr id="6" name="TextBox 5">
            <a:extLst>
              <a:ext uri="{FF2B5EF4-FFF2-40B4-BE49-F238E27FC236}">
                <a16:creationId xmlns:a16="http://schemas.microsoft.com/office/drawing/2014/main" id="{60C94CD6-0951-F275-7396-42882E8BD1C5}"/>
              </a:ext>
            </a:extLst>
          </p:cNvPr>
          <p:cNvSpPr txBox="1"/>
          <p:nvPr/>
        </p:nvSpPr>
        <p:spPr>
          <a:xfrm>
            <a:off x="1582730" y="1526527"/>
            <a:ext cx="10270836" cy="2585323"/>
          </a:xfrm>
          <a:prstGeom prst="rect">
            <a:avLst/>
          </a:prstGeom>
          <a:noFill/>
        </p:spPr>
        <p:txBody>
          <a:bodyPr wrap="square" rtlCol="0">
            <a:spAutoFit/>
          </a:bodyPr>
          <a:lstStyle/>
          <a:p>
            <a:pPr marL="285750" indent="-285750">
              <a:buFont typeface="Arial" panose="020B0604020202020204" pitchFamily="34" charset="0"/>
              <a:buChar char="•"/>
            </a:pPr>
            <a:r>
              <a:rPr lang="en-IN" dirty="0"/>
              <a:t>Screen Size Most common: 15.6 inches  </a:t>
            </a:r>
          </a:p>
          <a:p>
            <a:endParaRPr lang="en-IN" dirty="0"/>
          </a:p>
          <a:p>
            <a:pPr marL="285750" indent="-285750">
              <a:buFont typeface="Arial" panose="020B0604020202020204" pitchFamily="34" charset="0"/>
              <a:buChar char="•"/>
            </a:pPr>
            <a:r>
              <a:rPr lang="en-IN" dirty="0"/>
              <a:t>RAM Most common: 8 GB or 16 GB       </a:t>
            </a:r>
          </a:p>
          <a:p>
            <a:endParaRPr lang="en-IN" dirty="0"/>
          </a:p>
          <a:p>
            <a:pPr marL="285750" indent="-285750">
              <a:buFont typeface="Arial" panose="020B0604020202020204" pitchFamily="34" charset="0"/>
              <a:buChar char="•"/>
            </a:pPr>
            <a:r>
              <a:rPr lang="en-IN" dirty="0"/>
              <a:t>Weight	Lightweight laptops dominate certain </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err="1"/>
              <a:t>brandsPrice</a:t>
            </a:r>
            <a:r>
              <a:rPr lang="en-IN" dirty="0"/>
              <a:t> Market is skewed towards midrange laptops (₹40k-₹70k)</a:t>
            </a:r>
          </a:p>
          <a:p>
            <a:pPr marL="285750" indent="-285750">
              <a:buFont typeface="Arial" panose="020B0604020202020204" pitchFamily="34" charset="0"/>
              <a:buChar char="•"/>
            </a:pPr>
            <a:endParaRPr lang="en-IN" dirty="0"/>
          </a:p>
          <a:p>
            <a:pPr marL="285750" indent="-285750">
              <a:buFont typeface="Arial" panose="020B0604020202020204" pitchFamily="34" charset="0"/>
              <a:buChar char="•"/>
            </a:pPr>
            <a:r>
              <a:rPr lang="en-IN" dirty="0"/>
              <a:t>RAM vs Price Strong positive trend (higher RAM → higher price)</a:t>
            </a:r>
          </a:p>
        </p:txBody>
      </p:sp>
    </p:spTree>
    <p:extLst>
      <p:ext uri="{BB962C8B-B14F-4D97-AF65-F5344CB8AC3E}">
        <p14:creationId xmlns:p14="http://schemas.microsoft.com/office/powerpoint/2010/main" val="38005124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BC007F4-C8FF-23AD-9F68-7374B7940B76}"/>
              </a:ext>
            </a:extLst>
          </p:cNvPr>
          <p:cNvSpPr txBox="1"/>
          <p:nvPr/>
        </p:nvSpPr>
        <p:spPr>
          <a:xfrm>
            <a:off x="2163749" y="2280600"/>
            <a:ext cx="9337963" cy="2031325"/>
          </a:xfrm>
          <a:prstGeom prst="rect">
            <a:avLst/>
          </a:prstGeom>
          <a:noFill/>
        </p:spPr>
        <p:txBody>
          <a:bodyPr wrap="square" rtlCol="0">
            <a:spAutoFit/>
          </a:bodyPr>
          <a:lstStyle/>
          <a:p>
            <a:r>
              <a:rPr lang="en-US" dirty="0"/>
              <a:t>Top 5 most expensive laptops</a:t>
            </a:r>
          </a:p>
          <a:p>
            <a:endParaRPr lang="en-US" dirty="0"/>
          </a:p>
          <a:p>
            <a:r>
              <a:rPr lang="en-US" dirty="0"/>
              <a:t>Top 5 lightest laptops</a:t>
            </a:r>
          </a:p>
          <a:p>
            <a:endParaRPr lang="en-US" dirty="0"/>
          </a:p>
          <a:p>
            <a:r>
              <a:rPr lang="en-US" dirty="0"/>
              <a:t>Average price per </a:t>
            </a:r>
            <a:r>
              <a:rPr lang="en-US" dirty="0" err="1"/>
              <a:t>brandAverage</a:t>
            </a:r>
            <a:endParaRPr lang="en-US" dirty="0"/>
          </a:p>
          <a:p>
            <a:r>
              <a:rPr lang="en-US" dirty="0"/>
              <a:t> </a:t>
            </a:r>
          </a:p>
          <a:p>
            <a:r>
              <a:rPr lang="en-US" dirty="0"/>
              <a:t>weight per TypeName</a:t>
            </a:r>
            <a:endParaRPr lang="en-IN" dirty="0"/>
          </a:p>
        </p:txBody>
      </p:sp>
      <p:sp>
        <p:nvSpPr>
          <p:cNvPr id="3" name="TextBox 2">
            <a:extLst>
              <a:ext uri="{FF2B5EF4-FFF2-40B4-BE49-F238E27FC236}">
                <a16:creationId xmlns:a16="http://schemas.microsoft.com/office/drawing/2014/main" id="{0DB9CD7D-F2CE-D4A5-F97C-076CDBE6F06E}"/>
              </a:ext>
            </a:extLst>
          </p:cNvPr>
          <p:cNvSpPr txBox="1"/>
          <p:nvPr/>
        </p:nvSpPr>
        <p:spPr>
          <a:xfrm>
            <a:off x="629727" y="694423"/>
            <a:ext cx="6797616" cy="1077218"/>
          </a:xfrm>
          <a:prstGeom prst="rect">
            <a:avLst/>
          </a:prstGeom>
          <a:noFill/>
        </p:spPr>
        <p:txBody>
          <a:bodyPr wrap="square" rtlCol="0">
            <a:spAutoFit/>
          </a:bodyPr>
          <a:lstStyle/>
          <a:p>
            <a:r>
              <a:rPr lang="en-US" sz="3200" b="1" dirty="0"/>
              <a:t>Exploratory Data Analysis (EDA) </a:t>
            </a:r>
          </a:p>
          <a:p>
            <a:endParaRPr lang="en-US" sz="3200" dirty="0"/>
          </a:p>
        </p:txBody>
      </p:sp>
    </p:spTree>
    <p:extLst>
      <p:ext uri="{BB962C8B-B14F-4D97-AF65-F5344CB8AC3E}">
        <p14:creationId xmlns:p14="http://schemas.microsoft.com/office/powerpoint/2010/main" val="656330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941CC7-4B94-298C-74E9-834A13A2A70A}"/>
              </a:ext>
            </a:extLst>
          </p:cNvPr>
          <p:cNvSpPr txBox="1"/>
          <p:nvPr/>
        </p:nvSpPr>
        <p:spPr>
          <a:xfrm>
            <a:off x="1408198" y="1992964"/>
            <a:ext cx="9845963" cy="170168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Higher RAM correlates with higher price</a:t>
            </a:r>
          </a:p>
          <a:p>
            <a:pPr marL="285750" indent="-285750">
              <a:lnSpc>
                <a:spcPct val="150000"/>
              </a:lnSpc>
              <a:buFont typeface="Arial" panose="020B0604020202020204" pitchFamily="34" charset="0"/>
              <a:buChar char="•"/>
            </a:pPr>
            <a:r>
              <a:rPr lang="en-US" dirty="0"/>
              <a:t>Gaming laptops weigh more and cost more</a:t>
            </a:r>
          </a:p>
          <a:p>
            <a:pPr marL="285750" indent="-285750">
              <a:lnSpc>
                <a:spcPct val="150000"/>
              </a:lnSpc>
              <a:buFont typeface="Arial" panose="020B0604020202020204" pitchFamily="34" charset="0"/>
              <a:buChar char="•"/>
            </a:pPr>
            <a:r>
              <a:rPr lang="en-US" dirty="0"/>
              <a:t>Mac laptops dominate the Ultrabook segment</a:t>
            </a:r>
          </a:p>
          <a:p>
            <a:pPr marL="285750" indent="-285750">
              <a:lnSpc>
                <a:spcPct val="150000"/>
              </a:lnSpc>
              <a:buFont typeface="Arial" panose="020B0604020202020204" pitchFamily="34" charset="0"/>
              <a:buChar char="•"/>
            </a:pPr>
            <a:r>
              <a:rPr lang="en-US" dirty="0"/>
              <a:t>Price per Kg indicates lightweight premium laptops</a:t>
            </a:r>
          </a:p>
        </p:txBody>
      </p:sp>
      <p:sp>
        <p:nvSpPr>
          <p:cNvPr id="4" name="TextBox 3">
            <a:extLst>
              <a:ext uri="{FF2B5EF4-FFF2-40B4-BE49-F238E27FC236}">
                <a16:creationId xmlns:a16="http://schemas.microsoft.com/office/drawing/2014/main" id="{A1C432FE-3D74-2553-0ED1-A43A442B5FD6}"/>
              </a:ext>
            </a:extLst>
          </p:cNvPr>
          <p:cNvSpPr txBox="1"/>
          <p:nvPr/>
        </p:nvSpPr>
        <p:spPr>
          <a:xfrm>
            <a:off x="994194" y="958333"/>
            <a:ext cx="6094562" cy="584775"/>
          </a:xfrm>
          <a:prstGeom prst="rect">
            <a:avLst/>
          </a:prstGeom>
          <a:noFill/>
        </p:spPr>
        <p:txBody>
          <a:bodyPr wrap="square">
            <a:spAutoFit/>
          </a:bodyPr>
          <a:lstStyle/>
          <a:p>
            <a:r>
              <a:rPr lang="en-US" sz="3200" b="1" dirty="0"/>
              <a:t>Key Insights</a:t>
            </a:r>
          </a:p>
        </p:txBody>
      </p:sp>
    </p:spTree>
    <p:extLst>
      <p:ext uri="{BB962C8B-B14F-4D97-AF65-F5344CB8AC3E}">
        <p14:creationId xmlns:p14="http://schemas.microsoft.com/office/powerpoint/2010/main" val="11656752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3734A73-6380-8CFD-A4B0-2AC9CADBC3C1}"/>
              </a:ext>
            </a:extLst>
          </p:cNvPr>
          <p:cNvSpPr txBox="1"/>
          <p:nvPr/>
        </p:nvSpPr>
        <p:spPr>
          <a:xfrm>
            <a:off x="1424839" y="1605820"/>
            <a:ext cx="9051637" cy="2948179"/>
          </a:xfrm>
          <a:prstGeom prst="rect">
            <a:avLst/>
          </a:prstGeom>
          <a:noFill/>
        </p:spPr>
        <p:txBody>
          <a:bodyPr wrap="square" rtlCol="0">
            <a:spAutoFit/>
          </a:bodyPr>
          <a:lstStyle/>
          <a:p>
            <a:pPr marL="285750" indent="-285750">
              <a:lnSpc>
                <a:spcPct val="150000"/>
              </a:lnSpc>
              <a:buFont typeface="Arial" panose="020B0604020202020204" pitchFamily="34" charset="0"/>
              <a:buChar char="•"/>
            </a:pPr>
            <a:endParaRPr lang="en-US" b="1" dirty="0"/>
          </a:p>
          <a:p>
            <a:pPr marL="285750" indent="-285750">
              <a:lnSpc>
                <a:spcPct val="150000"/>
              </a:lnSpc>
              <a:buFont typeface="Arial" panose="020B0604020202020204" pitchFamily="34" charset="0"/>
              <a:buChar char="•"/>
            </a:pPr>
            <a:r>
              <a:rPr lang="en-US" dirty="0"/>
              <a:t>Target marketing based on screen size segment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Promote lightweight laptops in premium segment</a:t>
            </a:r>
          </a:p>
          <a:p>
            <a:pPr marL="285750" indent="-285750">
              <a:lnSpc>
                <a:spcPct val="150000"/>
              </a:lnSpc>
              <a:buFont typeface="Arial" panose="020B0604020202020204" pitchFamily="34" charset="0"/>
              <a:buChar char="•"/>
            </a:pPr>
            <a:endParaRPr lang="en-US" dirty="0"/>
          </a:p>
          <a:p>
            <a:pPr marL="285750" indent="-285750">
              <a:lnSpc>
                <a:spcPct val="150000"/>
              </a:lnSpc>
              <a:buFont typeface="Arial" panose="020B0604020202020204" pitchFamily="34" charset="0"/>
              <a:buChar char="•"/>
            </a:pPr>
            <a:r>
              <a:rPr lang="en-US" dirty="0"/>
              <a:t>Focus on mid-range laptops (highest demand)</a:t>
            </a:r>
          </a:p>
          <a:p>
            <a:pPr marL="285750" indent="-285750">
              <a:lnSpc>
                <a:spcPct val="150000"/>
              </a:lnSpc>
              <a:buFont typeface="Arial" panose="020B0604020202020204" pitchFamily="34" charset="0"/>
              <a:buChar char="•"/>
            </a:pPr>
            <a:endParaRPr lang="en-IN" dirty="0"/>
          </a:p>
        </p:txBody>
      </p:sp>
      <p:sp>
        <p:nvSpPr>
          <p:cNvPr id="4" name="TextBox 3">
            <a:extLst>
              <a:ext uri="{FF2B5EF4-FFF2-40B4-BE49-F238E27FC236}">
                <a16:creationId xmlns:a16="http://schemas.microsoft.com/office/drawing/2014/main" id="{A035034E-CD5B-9A7B-4373-0DC8BEE3F0B8}"/>
              </a:ext>
            </a:extLst>
          </p:cNvPr>
          <p:cNvSpPr txBox="1"/>
          <p:nvPr/>
        </p:nvSpPr>
        <p:spPr>
          <a:xfrm>
            <a:off x="882051" y="1070477"/>
            <a:ext cx="6094562" cy="584775"/>
          </a:xfrm>
          <a:prstGeom prst="rect">
            <a:avLst/>
          </a:prstGeom>
          <a:noFill/>
        </p:spPr>
        <p:txBody>
          <a:bodyPr wrap="square">
            <a:spAutoFit/>
          </a:bodyPr>
          <a:lstStyle/>
          <a:p>
            <a:r>
              <a:rPr lang="en-US" sz="3200" b="1" dirty="0"/>
              <a:t>Recommendations</a:t>
            </a:r>
          </a:p>
        </p:txBody>
      </p:sp>
    </p:spTree>
    <p:extLst>
      <p:ext uri="{BB962C8B-B14F-4D97-AF65-F5344CB8AC3E}">
        <p14:creationId xmlns:p14="http://schemas.microsoft.com/office/powerpoint/2010/main" val="11488038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E8C58A-F429-89DF-88A4-5D142BAC87D0}"/>
              </a:ext>
            </a:extLst>
          </p:cNvPr>
          <p:cNvSpPr txBox="1"/>
          <p:nvPr/>
        </p:nvSpPr>
        <p:spPr>
          <a:xfrm>
            <a:off x="212436" y="258618"/>
            <a:ext cx="9966037" cy="707886"/>
          </a:xfrm>
          <a:prstGeom prst="rect">
            <a:avLst/>
          </a:prstGeom>
          <a:noFill/>
        </p:spPr>
        <p:txBody>
          <a:bodyPr wrap="square" rtlCol="0">
            <a:spAutoFit/>
          </a:bodyPr>
          <a:lstStyle/>
          <a:p>
            <a:r>
              <a:rPr lang="en-IN" sz="4000" dirty="0"/>
              <a:t>DESCRIPTIVE STATISTICS</a:t>
            </a:r>
          </a:p>
        </p:txBody>
      </p:sp>
      <p:pic>
        <p:nvPicPr>
          <p:cNvPr id="4" name="Picture 3" descr="A black rectangular object with red text&#10;&#10;AI-generated content may be incorrect.">
            <a:extLst>
              <a:ext uri="{FF2B5EF4-FFF2-40B4-BE49-F238E27FC236}">
                <a16:creationId xmlns:a16="http://schemas.microsoft.com/office/drawing/2014/main" id="{D0C9DA2B-71E5-8BCA-4877-B797712EF0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4089" y="1419509"/>
            <a:ext cx="6487430" cy="1086002"/>
          </a:xfrm>
          <a:prstGeom prst="rect">
            <a:avLst/>
          </a:prstGeom>
        </p:spPr>
      </p:pic>
      <p:pic>
        <p:nvPicPr>
          <p:cNvPr id="7" name="Picture 6">
            <a:extLst>
              <a:ext uri="{FF2B5EF4-FFF2-40B4-BE49-F238E27FC236}">
                <a16:creationId xmlns:a16="http://schemas.microsoft.com/office/drawing/2014/main" id="{8AA8BA91-6800-EF5B-BF00-A6C42B6B69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4089" y="2776648"/>
            <a:ext cx="8878539" cy="685896"/>
          </a:xfrm>
          <a:prstGeom prst="rect">
            <a:avLst/>
          </a:prstGeom>
        </p:spPr>
      </p:pic>
    </p:spTree>
    <p:extLst>
      <p:ext uri="{BB962C8B-B14F-4D97-AF65-F5344CB8AC3E}">
        <p14:creationId xmlns:p14="http://schemas.microsoft.com/office/powerpoint/2010/main" val="28560465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BFE15-0D44-D836-8E2E-654C7231CF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732163" y="1506194"/>
            <a:ext cx="4991121" cy="4135330"/>
          </a:xfrm>
          <a:prstGeom prst="rect">
            <a:avLst/>
          </a:prstGeom>
        </p:spPr>
      </p:pic>
      <p:sp>
        <p:nvSpPr>
          <p:cNvPr id="4" name="TextBox 3">
            <a:extLst>
              <a:ext uri="{FF2B5EF4-FFF2-40B4-BE49-F238E27FC236}">
                <a16:creationId xmlns:a16="http://schemas.microsoft.com/office/drawing/2014/main" id="{1747E003-53B7-354C-0207-0B7166D5F0D7}"/>
              </a:ext>
            </a:extLst>
          </p:cNvPr>
          <p:cNvSpPr txBox="1"/>
          <p:nvPr/>
        </p:nvSpPr>
        <p:spPr>
          <a:xfrm>
            <a:off x="1050863" y="480291"/>
            <a:ext cx="6088846" cy="369332"/>
          </a:xfrm>
          <a:prstGeom prst="rect">
            <a:avLst/>
          </a:prstGeom>
          <a:noFill/>
        </p:spPr>
        <p:txBody>
          <a:bodyPr wrap="square" rtlCol="0">
            <a:spAutoFit/>
          </a:bodyPr>
          <a:lstStyle/>
          <a:p>
            <a:r>
              <a:rPr lang="en-US" dirty="0"/>
              <a:t>UNIVARIATE ANALYSIS</a:t>
            </a:r>
            <a:endParaRPr lang="en-IN" dirty="0"/>
          </a:p>
        </p:txBody>
      </p:sp>
    </p:spTree>
    <p:extLst>
      <p:ext uri="{BB962C8B-B14F-4D97-AF65-F5344CB8AC3E}">
        <p14:creationId xmlns:p14="http://schemas.microsoft.com/office/powerpoint/2010/main" val="2612886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08DC3DB-E981-0D40-9B11-959775194055}"/>
              </a:ext>
            </a:extLst>
          </p:cNvPr>
          <p:cNvSpPr txBox="1"/>
          <p:nvPr/>
        </p:nvSpPr>
        <p:spPr>
          <a:xfrm>
            <a:off x="332509" y="461818"/>
            <a:ext cx="4479636" cy="369332"/>
          </a:xfrm>
          <a:prstGeom prst="rect">
            <a:avLst/>
          </a:prstGeom>
          <a:noFill/>
        </p:spPr>
        <p:txBody>
          <a:bodyPr wrap="square" rtlCol="0">
            <a:spAutoFit/>
          </a:bodyPr>
          <a:lstStyle/>
          <a:p>
            <a:r>
              <a:rPr lang="en-IN" dirty="0"/>
              <a:t>SCATTER PLOT ANALYSIS</a:t>
            </a:r>
          </a:p>
        </p:txBody>
      </p:sp>
      <p:pic>
        <p:nvPicPr>
          <p:cNvPr id="7" name="Picture 6">
            <a:extLst>
              <a:ext uri="{FF2B5EF4-FFF2-40B4-BE49-F238E27FC236}">
                <a16:creationId xmlns:a16="http://schemas.microsoft.com/office/drawing/2014/main" id="{DFE45750-9DDD-799D-6D8B-606BB739C10B}"/>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2007953" y="1339273"/>
            <a:ext cx="8153964" cy="5008440"/>
          </a:xfrm>
          <a:prstGeom prst="rect">
            <a:avLst/>
          </a:prstGeom>
        </p:spPr>
      </p:pic>
    </p:spTree>
    <p:extLst>
      <p:ext uri="{BB962C8B-B14F-4D97-AF65-F5344CB8AC3E}">
        <p14:creationId xmlns:p14="http://schemas.microsoft.com/office/powerpoint/2010/main" val="15428760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4">
            <a:extLst>
              <a:ext uri="{FF2B5EF4-FFF2-40B4-BE49-F238E27FC236}">
                <a16:creationId xmlns:a16="http://schemas.microsoft.com/office/drawing/2014/main" id="{61669C8B-A836-2D91-5C76-1981C26613E5}"/>
              </a:ext>
            </a:extLst>
          </p:cNvPr>
          <p:cNvPicPr>
            <a:picLocks noChangeAspect="1"/>
          </p:cNvPicPr>
          <p:nvPr/>
        </p:nvPicPr>
        <p:blipFill>
          <a:blip r:embed="rId2"/>
          <a:stretch>
            <a:fillRect/>
          </a:stretch>
        </p:blipFill>
        <p:spPr>
          <a:xfrm>
            <a:off x="947925" y="1724747"/>
            <a:ext cx="5148075" cy="3932237"/>
          </a:xfrm>
          <a:prstGeom prst="rect">
            <a:avLst/>
          </a:prstGeom>
        </p:spPr>
      </p:pic>
      <p:sp>
        <p:nvSpPr>
          <p:cNvPr id="3" name="TextBox 2">
            <a:extLst>
              <a:ext uri="{FF2B5EF4-FFF2-40B4-BE49-F238E27FC236}">
                <a16:creationId xmlns:a16="http://schemas.microsoft.com/office/drawing/2014/main" id="{79EED3BF-D88B-0592-3203-6042DBE33BFA}"/>
              </a:ext>
            </a:extLst>
          </p:cNvPr>
          <p:cNvSpPr txBox="1"/>
          <p:nvPr/>
        </p:nvSpPr>
        <p:spPr>
          <a:xfrm>
            <a:off x="947925" y="701964"/>
            <a:ext cx="5148075" cy="369332"/>
          </a:xfrm>
          <a:prstGeom prst="rect">
            <a:avLst/>
          </a:prstGeom>
          <a:noFill/>
        </p:spPr>
        <p:txBody>
          <a:bodyPr wrap="square" rtlCol="0">
            <a:spAutoFit/>
          </a:bodyPr>
          <a:lstStyle/>
          <a:p>
            <a:r>
              <a:rPr lang="en-US" dirty="0"/>
              <a:t>CORRELATION HEATMAP</a:t>
            </a:r>
            <a:endParaRPr lang="en-IN" dirty="0"/>
          </a:p>
        </p:txBody>
      </p:sp>
    </p:spTree>
    <p:extLst>
      <p:ext uri="{BB962C8B-B14F-4D97-AF65-F5344CB8AC3E}">
        <p14:creationId xmlns:p14="http://schemas.microsoft.com/office/powerpoint/2010/main" val="25221991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07EC13F-75C5-AADB-DA5D-B48D100F476A}"/>
              </a:ext>
            </a:extLst>
          </p:cNvPr>
          <p:cNvSpPr txBox="1"/>
          <p:nvPr/>
        </p:nvSpPr>
        <p:spPr>
          <a:xfrm>
            <a:off x="498764" y="729673"/>
            <a:ext cx="8645236" cy="369332"/>
          </a:xfrm>
          <a:prstGeom prst="rect">
            <a:avLst/>
          </a:prstGeom>
          <a:noFill/>
        </p:spPr>
        <p:txBody>
          <a:bodyPr wrap="square">
            <a:spAutoFit/>
          </a:bodyPr>
          <a:lstStyle/>
          <a:p>
            <a:r>
              <a:rPr lang="en-IN" dirty="0"/>
              <a:t>RAM VS PRICE</a:t>
            </a:r>
          </a:p>
        </p:txBody>
      </p:sp>
      <p:pic>
        <p:nvPicPr>
          <p:cNvPr id="5" name="Picture 4">
            <a:extLst>
              <a:ext uri="{FF2B5EF4-FFF2-40B4-BE49-F238E27FC236}">
                <a16:creationId xmlns:a16="http://schemas.microsoft.com/office/drawing/2014/main" id="{65693EAA-5543-7F81-3EA2-593180577099}"/>
              </a:ext>
            </a:extLst>
          </p:cNvPr>
          <p:cNvPicPr>
            <a:picLocks noChangeAspect="1"/>
          </p:cNvPicPr>
          <p:nvPr/>
        </p:nvPicPr>
        <p:blipFill>
          <a:blip r:embed="rId2"/>
          <a:stretch>
            <a:fillRect/>
          </a:stretch>
        </p:blipFill>
        <p:spPr>
          <a:xfrm>
            <a:off x="1511484" y="1288362"/>
            <a:ext cx="6416596" cy="5204911"/>
          </a:xfrm>
          <a:prstGeom prst="rect">
            <a:avLst/>
          </a:prstGeom>
        </p:spPr>
      </p:pic>
    </p:spTree>
    <p:extLst>
      <p:ext uri="{BB962C8B-B14F-4D97-AF65-F5344CB8AC3E}">
        <p14:creationId xmlns:p14="http://schemas.microsoft.com/office/powerpoint/2010/main" val="4562989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F75D15-AC9F-3F7C-75A2-7DFFB31A6F17}"/>
              </a:ext>
            </a:extLst>
          </p:cNvPr>
          <p:cNvSpPr txBox="1"/>
          <p:nvPr/>
        </p:nvSpPr>
        <p:spPr>
          <a:xfrm>
            <a:off x="1307818" y="2017710"/>
            <a:ext cx="11517744" cy="2308324"/>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The </a:t>
            </a:r>
            <a:r>
              <a:rPr kumimoji="0" lang="en-US" altLang="en-US" b="1" i="0" u="none" strike="noStrike" cap="none" normalizeH="0" baseline="0" dirty="0">
                <a:ln>
                  <a:noFill/>
                </a:ln>
                <a:solidFill>
                  <a:schemeClr val="tx1"/>
                </a:solidFill>
                <a:effectLst/>
                <a:latin typeface="Arial" panose="020B0604020202020204" pitchFamily="34" charset="0"/>
              </a:rPr>
              <a:t>mid-range segment</a:t>
            </a:r>
            <a:r>
              <a:rPr kumimoji="0" lang="en-US" altLang="en-US" b="0" i="0" u="none" strike="noStrike" cap="none" normalizeH="0" baseline="0" dirty="0">
                <a:ln>
                  <a:noFill/>
                </a:ln>
                <a:solidFill>
                  <a:schemeClr val="tx1"/>
                </a:solidFill>
                <a:effectLst/>
                <a:latin typeface="Arial" panose="020B0604020202020204" pitchFamily="34" charset="0"/>
              </a:rPr>
              <a:t> dominates the market (₹40k to ₹70k laptops).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15.6-inch screen</a:t>
            </a:r>
            <a:r>
              <a:rPr kumimoji="0" lang="en-US" altLang="en-US" sz="1800" b="0" i="0" u="none" strike="noStrike" cap="none" normalizeH="0" baseline="0" dirty="0">
                <a:ln>
                  <a:noFill/>
                </a:ln>
                <a:solidFill>
                  <a:schemeClr val="tx1"/>
                </a:solidFill>
                <a:effectLst/>
                <a:latin typeface="Arial" panose="020B0604020202020204" pitchFamily="34" charset="0"/>
              </a:rPr>
              <a:t> size is the most popular among laptops.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The most common </a:t>
            </a:r>
            <a:r>
              <a:rPr kumimoji="0" lang="en-US" altLang="en-US" sz="1800" b="1" i="0" u="none" strike="noStrike" cap="none" normalizeH="0" baseline="0" dirty="0">
                <a:ln>
                  <a:noFill/>
                </a:ln>
                <a:solidFill>
                  <a:schemeClr val="tx1"/>
                </a:solidFill>
                <a:effectLst/>
                <a:latin typeface="Arial" panose="020B0604020202020204" pitchFamily="34" charset="0"/>
              </a:rPr>
              <a:t>RAM size</a:t>
            </a:r>
            <a:r>
              <a:rPr kumimoji="0" lang="en-US" altLang="en-US" sz="1800" b="0" i="0" u="none" strike="noStrike" cap="none" normalizeH="0" baseline="0" dirty="0">
                <a:ln>
                  <a:noFill/>
                </a:ln>
                <a:solidFill>
                  <a:schemeClr val="tx1"/>
                </a:solidFill>
                <a:effectLst/>
                <a:latin typeface="Arial" panose="020B0604020202020204" pitchFamily="34" charset="0"/>
              </a:rPr>
              <a:t> is </a:t>
            </a:r>
            <a:r>
              <a:rPr kumimoji="0" lang="en-US" altLang="en-US" sz="1800" b="1" i="0" u="none" strike="noStrike" cap="none" normalizeH="0" baseline="0" dirty="0">
                <a:ln>
                  <a:noFill/>
                </a:ln>
                <a:solidFill>
                  <a:schemeClr val="tx1"/>
                </a:solidFill>
                <a:effectLst/>
                <a:latin typeface="Arial" panose="020B0604020202020204" pitchFamily="34" charset="0"/>
              </a:rPr>
              <a:t>8 GB</a:t>
            </a:r>
            <a:r>
              <a:rPr kumimoji="0" lang="en-US" altLang="en-US" sz="1800" b="0" i="0" u="none" strike="noStrike" cap="none" normalizeH="0" baseline="0" dirty="0">
                <a:ln>
                  <a:noFill/>
                </a:ln>
                <a:solidFill>
                  <a:schemeClr val="tx1"/>
                </a:solidFill>
                <a:effectLst/>
                <a:latin typeface="Arial" panose="020B0604020202020204" pitchFamily="34" charset="0"/>
              </a:rPr>
              <a:t>, suitable for most users.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Lightweight laptops (&lt;2 kg) are highly preferred in the </a:t>
            </a:r>
            <a:r>
              <a:rPr kumimoji="0" lang="en-US" altLang="en-US" sz="1800" b="1" i="0" u="none" strike="noStrike" cap="none" normalizeH="0" baseline="0" dirty="0">
                <a:ln>
                  <a:noFill/>
                </a:ln>
                <a:solidFill>
                  <a:schemeClr val="tx1"/>
                </a:solidFill>
                <a:effectLst/>
                <a:latin typeface="Arial" panose="020B0604020202020204" pitchFamily="34" charset="0"/>
              </a:rPr>
              <a:t>Ultrabook</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1" i="0" u="none" strike="noStrike" cap="none" normalizeH="0" baseline="0" dirty="0">
                <a:ln>
                  <a:noFill/>
                </a:ln>
                <a:solidFill>
                  <a:schemeClr val="tx1"/>
                </a:solidFill>
                <a:effectLst/>
                <a:latin typeface="Arial" panose="020B0604020202020204" pitchFamily="34" charset="0"/>
              </a:rPr>
              <a:t>Notebook</a:t>
            </a:r>
            <a:r>
              <a:rPr kumimoji="0" lang="en-US" altLang="en-US" sz="1800" b="0" i="0" u="none" strike="noStrike" cap="none" normalizeH="0" baseline="0" dirty="0">
                <a:ln>
                  <a:noFill/>
                </a:ln>
                <a:solidFill>
                  <a:schemeClr val="tx1"/>
                </a:solidFill>
                <a:effectLst/>
                <a:latin typeface="Arial" panose="020B0604020202020204" pitchFamily="34" charset="0"/>
              </a:rPr>
              <a:t> segments</a:t>
            </a:r>
          </a:p>
          <a:p>
            <a:endParaRPr lang="en-IN" dirty="0"/>
          </a:p>
        </p:txBody>
      </p:sp>
      <p:sp>
        <p:nvSpPr>
          <p:cNvPr id="5" name="TextBox 4">
            <a:extLst>
              <a:ext uri="{FF2B5EF4-FFF2-40B4-BE49-F238E27FC236}">
                <a16:creationId xmlns:a16="http://schemas.microsoft.com/office/drawing/2014/main" id="{F48422A1-EEE1-D340-1DFD-3C1B12B81B2B}"/>
              </a:ext>
            </a:extLst>
          </p:cNvPr>
          <p:cNvSpPr txBox="1"/>
          <p:nvPr/>
        </p:nvSpPr>
        <p:spPr>
          <a:xfrm>
            <a:off x="591127" y="824824"/>
            <a:ext cx="3343564" cy="584775"/>
          </a:xfrm>
          <a:prstGeom prst="rect">
            <a:avLst/>
          </a:prstGeom>
          <a:noFill/>
        </p:spPr>
        <p:txBody>
          <a:bodyPr wrap="square" rtlCol="0">
            <a:spAutoFit/>
          </a:bodyPr>
          <a:lstStyle/>
          <a:p>
            <a:r>
              <a:rPr lang="en-US" sz="3200" b="1" dirty="0"/>
              <a:t>CONCLUSION</a:t>
            </a:r>
            <a:endParaRPr lang="en-IN" sz="3200" b="1" dirty="0"/>
          </a:p>
        </p:txBody>
      </p:sp>
    </p:spTree>
    <p:extLst>
      <p:ext uri="{BB962C8B-B14F-4D97-AF65-F5344CB8AC3E}">
        <p14:creationId xmlns:p14="http://schemas.microsoft.com/office/powerpoint/2010/main" val="108215224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Override1.xml><?xml version="1.0" encoding="utf-8"?>
<a:themeOverride xmlns:a="http://schemas.openxmlformats.org/drawingml/2006/main">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themeOverride>
</file>

<file path=docProps/app.xml><?xml version="1.0" encoding="utf-8"?>
<Properties xmlns="http://schemas.openxmlformats.org/officeDocument/2006/extended-properties" xmlns:vt="http://schemas.openxmlformats.org/officeDocument/2006/docPropsVTypes">
  <Template/>
  <TotalTime>87</TotalTime>
  <Words>463</Words>
  <Application>Microsoft Office PowerPoint</Application>
  <PresentationFormat>Widescreen</PresentationFormat>
  <Paragraphs>87</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VIJAYA KUMAR M</dc:creator>
  <cp:lastModifiedBy>Sanjaikumar S</cp:lastModifiedBy>
  <cp:revision>12</cp:revision>
  <dcterms:created xsi:type="dcterms:W3CDTF">2025-06-09T18:03:43Z</dcterms:created>
  <dcterms:modified xsi:type="dcterms:W3CDTF">2025-06-11T18:21:38Z</dcterms:modified>
</cp:coreProperties>
</file>